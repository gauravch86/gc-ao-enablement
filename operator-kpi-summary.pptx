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D4A853"/>
                </a:solidFill>
                <a:latin typeface="Calibri"/>
              </a:rPr>
              <a:t>Telecom Operator KPI Control Tower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8B9CB3"/>
                </a:solidFill>
                <a:latin typeface="Calibri"/>
              </a:rPr>
              <a:t>Holistic business &amp; operational KPIs · BSS + OSS/IT + Network + Infra/Cloud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8A6FF"/>
                </a:solidFill>
                <a:latin typeface="Calibri"/>
              </a:rPr>
              <a:t>Tier-1 operator pattern (illustrative) · Gaurav Chaudhary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Full catalogue: operator-kpi-catalog.docx  ·  Live sample: operator-kpi-dashboard.html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D4A853"/>
                </a:solidFill>
                <a:latin typeface="Calibri"/>
              </a:rPr>
              <a:t>Four-layer KPI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10515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1  EXECUTIVE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12–15 north-stars: revenue, churn, NPS, availability, O2A, bill accuracy, DSO, MTTR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10972800" cy="10515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2  DOMAIN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BSS · OSS/IT · Network · Infra/Cloud · Security · Multivendor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0972800" cy="10515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776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3  JOURNEY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Buy → Activate → Use → Bill → Pay → Care → Retain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972800" cy="105156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4  DRILL-DOWN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App, site, vendor, batch, API, cell, cloud account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D4A853"/>
                </a:solidFill>
                <a:latin typeface="Calibri"/>
              </a:rPr>
              <a:t>BSS &amp; revenue-cycle KPIs (your examples + extensions)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Sales: COP · CHQ · digital · partners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Churn: voluntary / involuntary; MNP by operator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Order capture lead time &amp; fallout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Order-to-activate (O2A)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Billing E2E completion; bill prep → confirm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Billing reruns (count + root cause)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Accounts ready for collection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In collection — stage clarity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Pending write-off trigger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DSO · dunning · bad debt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Application availability (gold tier)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P1/P2 MTTR · repeat incidents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Change success · emergency rate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API / transaction success (journeys)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Network availability (RAN/core)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Cloud spend vs budget (FinOps)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Patch / backup compliance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Security MTTD / MTTC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Auto-remediation rate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▸  SPOG correlation BSS+OSS+network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D4A853"/>
                </a:solidFill>
                <a:latin typeface="Calibri"/>
              </a:rPr>
              <a:t>Customer journey → stack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234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COP/CHQ sales,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2344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CRM ·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ACTIVATE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94767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O2A, port-in, provisioning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4767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BSS ·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60904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Availability, QoS, complaints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660904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Apps · RAN ·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74136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BILL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374136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Cycle time, reruns,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374136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Billing · mediation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87368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PAY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08736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Collection stages, DSO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087368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Collections ·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800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FCR, repeat contacts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800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CRM · ITSM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13832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Calibri"/>
              </a:rPr>
              <a:t>RETAIN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51383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Churn by operator, ARPU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51383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8B9CB3"/>
                </a:solidFill>
                <a:latin typeface="Calibri"/>
              </a:rPr>
              <a:t>All domains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D4A853"/>
                </a:solidFill>
                <a:latin typeface="Calibri"/>
              </a:rPr>
              <a:t>Autonomous operations maturity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▸  Reactive → Predictive → Autonomous mix (% tickets / incidents)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▸  % auto-remediation (closed-loop self-heal)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▸  Top-offender closure rate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▸  Human touch rate on P1 scenarios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▸  Playbook / automation reuse across domains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alibri"/>
              </a:rPr>
              <a:t>▸  Observability coverage (% critical services with SLO)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FB950"/>
                </a:solidFill>
                <a:latin typeface="Calibri"/>
              </a:rPr>
              <a:t>End-state visual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Calibri"/>
              </a:rPr>
              <a:t>Open operator-kpi-dashboard.html — sample charts for churn, COP/CHQ sales, billing funnel, availability, journey trends, autonomy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
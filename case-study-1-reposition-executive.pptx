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</a:t>
            </a:r>
          </a:p>
          <a:p/>
          <a:p>
            <a:r>
              <a:t>WHAT TO SAY:</a:t>
            </a:r>
          </a:p>
          <a:p>
            <a:r>
              <a:t>Paradox first: delivery satisfaction strong, sales flat, margin illustratively 28% → 22–24% (−4 to −6 percentage points). Commercial problem, not delivery.</a:t>
            </a:r>
          </a:p>
          <a:p/>
          <a:p>
            <a:r>
              <a:t>Tell them the storyline is sequential — one stage per slide — so they need not hold everything at once.</a:t>
            </a:r>
          </a:p>
          <a:p>
            <a:r>
              <a:t>Point at the top-right timer: each slide has a budget; gold bar counts down when Slideshow starts; you still click to advance.</a:t>
            </a:r>
          </a:p>
          <a:p/>
          <a:p>
            <a:r>
              <a:t>GLOSSARY: Net sales · Gross margin · Deal Desk · Attach — as before.</a:t>
            </a:r>
          </a:p>
          <a:p/>
          <a:p>
            <a:r>
              <a:t>ON-SLIDE TIMER: Budget 1:15 for this slide. Gold bar counts down when Slideshow opens (does not auto-advance). By end of this slide you should be at ~1:15 of 10:00 (~8:45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 ONLY THIS SLIDE’S JOB: how we diagnose — not the answer yet.</a:t>
            </a:r>
          </a:p>
          <a:p>
            <a:r>
              <a:t>Walk five lenses A→E. Emphasize decision triggers.</a:t>
            </a:r>
          </a:p>
          <a:p>
            <a:r>
              <a:t>Next slide = what we expect the data to show.</a:t>
            </a:r>
          </a:p>
          <a:p/>
          <a:p>
            <a:r>
              <a:t>GLOSSARY: Win/loss · Gross-margin waterfall · Pull-through · Sunset test.</a:t>
            </a:r>
          </a:p>
          <a:p/>
          <a:p>
            <a:r>
              <a:t>ON-SLIDE TIMER: Budget 1:20 for this slide. Gold bar counts down when Slideshow opens (does not auto-advance). By end of this slide you should be at ~2:35 of 10:00 (~7:25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These are illustrative findings — what a healthy diagnostic would likely show given the brief.</a:t>
            </a:r>
          </a:p>
          <a:p>
            <a:r>
              <a:t>All three are commercial. Delivery is not the primary failure mode.</a:t>
            </a:r>
          </a:p>
          <a:p>
            <a:r>
              <a:t>Next slide = evolve / reposition / sunset decision.</a:t>
            </a:r>
          </a:p>
          <a:p/>
          <a:p>
            <a:r>
              <a:t>ON-SLIDE TIMER: Budget 1:20 for this slide. Gold bar counts down when Slideshow opens (does not auto-advance). By end of this slide you should be at ~3:55 of 10:00 (~6:05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Recommendation is REPOSITION. Sunset destroys footprint. Evolve-only won’t fix Sales or Deal Desk.</a:t>
            </a:r>
          </a:p>
          <a:p>
            <a:r>
              <a:t>To = Outcome-Tiered Application Operations: Stabilize → Optimize → Transform.</a:t>
            </a:r>
          </a:p>
          <a:p>
            <a:r>
              <a:t>Staffing stays internal; customer buys service class.</a:t>
            </a:r>
          </a:p>
          <a:p>
            <a:r>
              <a:t>Next = how we package and price.</a:t>
            </a:r>
          </a:p>
          <a:p/>
          <a:p>
            <a:r>
              <a:t>ON-SLIDE TIMER: Budget 1:15 for this slide. Gold bar counts down when Slideshow opens (does not auto-advance). By end of this slide you should be at ~5:10 of 10:00 (~4:50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Walk Stabilize → Optimize → Transform as Sales ladder.</a:t>
            </a:r>
          </a:p>
          <a:p>
            <a:r>
              <a:t>Mandatory priced knowledge transfer. Multi-vendor = optional pack only.</a:t>
            </a:r>
          </a:p>
          <a:p/>
          <a:p>
            <a:r>
              <a:t>ON-SLIDE TIMER: Budget 1:25 for this slide. Gold bar counts down when Slideshow opens (does not auto-advance). By end of this slide you should be at ~6:35 of 10:00 (~3:25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Three hard rules: floor GM, mandatory KT, ±15% regional variance.</a:t>
            </a:r>
          </a:p>
          <a:p>
            <a:r>
              <a:t>Fund commercial assets before tooling. Explicit stop list.</a:t>
            </a:r>
          </a:p>
          <a:p/>
          <a:p>
            <a:r>
              <a:t>ON-SLIDE TIMER: Budget 1:15 for this slide. Gold bar counts down when Slideshow opens (does not auto-advance). By end of this slide you should be at ~7:50 of 10:00 (~2:10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Name owners. Scoreboard = how leadership knows it worked. Pricing Council = continuous refinement.</a:t>
            </a:r>
          </a:p>
          <a:p/>
          <a:p>
            <a:r>
              <a:t>ON-SLIDE TIMER: Budget 1:05 for this slide. Gold bar counts down when Slideshow opens (does not auto-advance). By end of this slide you should be at ~8:55 of 10:00 (~1:05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Restate call. Point at the four-step thought process on the left — that is the interview signal.</a:t>
            </a:r>
          </a:p>
          <a:p>
            <a:r>
              <a:t>Then four asks. Hand to questions.</a:t>
            </a:r>
          </a:p>
          <a:p/>
          <a:p>
            <a:r>
              <a:t>Q&amp;A prep same as before (sunset / deal size / rate card / Finance / consolidation optional).</a:t>
            </a:r>
          </a:p>
          <a:p/>
          <a:p>
            <a:r>
              <a:t>ON-SLIDE TIMER: Budget 1:05 for this slide. Gold bar counts down when Slideshow opens (does not auto-advance). By end of this slide you should be at ~10:00 of 10:00 (~0:00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1  ·  10-MINUTE COMMERCIAL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Application Managed Services: strong technical delivery, but commercially stuck — flat net sales, declining gross margin, Sales cannot articulate value, inconsistent regional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YEARS)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little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 (ILLUSTRATIVE)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87171"/>
                </a:solidFill>
                <a:latin typeface="Calibri"/>
              </a:rPr>
              <a:t>28% → 22–24%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−4 to −6 percentage points over 2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SATISFACTION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failure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3756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EXECUTIVE FRAMING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Commercial / go-to-market problem — not a delivery turnaround. Sold as headcount; buyers purchase outcomes, cost predictability, and risk reduction. Leadership asks: evolve, reposition, or sunset.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Five-lens diagnosis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2  Illustrative findings (what the data would show)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3  Decision framework → Reposition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Package &amp; price   ·   5  Guardrails &amp; invest   ·   6  Align &amp; measure   ·   7  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Top-right SLIDE BUDGET + gold bar = live countdown in Slideshow (does not auto-advance).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1:15 · left 8:45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GATHER EVIDENCE BEFORE ANY PORTFOLIO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Five-lens diagnosis — what we would gather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1  ·  FIVE-LENS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Four-week commercial diagnostic · parallel workstreams · one steering forum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A  WIN / LOSS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15–20 deals. Tag losses: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price-only vs value unclear.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value unclear &gt;30% → positioning broken.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B  MARGIN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Gross-margin waterfall: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discount · transition overrun 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scope. Trigger: discount-led bleed → guardrails.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  COMPETITIVE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Staff augmentation vs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outcome-packaged peers.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buyers ask for tiers → reposition.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D  CUSTOMER VOICE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High satisfaction + low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willingness to pay =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story gap, not execution gap.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6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E  PORTFOLIO FIT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18-month margin path?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Strategic pull-through?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Sunset only if both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Diagnose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2:35 · left 7:25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800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ILLUSTRATIVE SYNTHESIS FROM THE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Likely findings — commercial root causes, not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STAGE 2  ·  ILLUSTRATIVE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Expected outcome of the five lenses — three reinforcing commercial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1  COMMODITIZED PACKAGING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Sold as Level-1 / Level-2 / Level-3 staffing towers.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Procurement benches us against systems integrators on rate-per-person.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flat sales; technical wins die in procurement.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2  PRICING CHAOS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Regions discount ad hoc — no enforceable global floor.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Knowledge transfer underpriced; unpaid scope creep.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margin e.g. 28% → 22–24% while delivery scores 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3  VALUE STORY GAP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Buyers want outcomes and predictability.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Sales still pitches headcount replacement.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“Sales cannot explain the value.”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3:55 · left 6:05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800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PORTFOLIO CALL WITH EXPLICIT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Decision framework → Reposition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3  · 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Choose with trade-offs — then change the sellable unit, not only the tooling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Rejects delivery DNA and account footprint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High exit cost; competitors inherit the base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Use ONLY if no 18-month margin path AND no pull-through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Not indicated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More tooling / process — same sellable unit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Sales narrative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regional pricing chaos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Necessary later; insufficient alone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noFill/>
          <a:ln w="317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Outcome-tiered Application Operations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Stabilize → Optimize → Transform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Evolve modules selectively underneath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Accepted trade-off: near-term deal size may dip; attach + renewals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39896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Decide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5:10 · left 4:50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IF REPOSITIONING — REVISED PACKAGING AND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Sell tiers and outcomes — not staffing towers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4  ·  PACKAGE &amp;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Backlog · service-level baseline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Single accountability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Platform fee + criticality class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Prove efficiency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Monitoring / automation packs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Outcome-band vs service levels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Optional gain-share on savings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4592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TRANSFORM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Operating-model uplift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Continuous improvement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Milestone elements (Finance OK)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Executive scorecard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49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1663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ATTACH PACKS  ·  PRICED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Mandatory: knowledge-transfer on new logos. Optional: top-offender sprint · monitoring jump-start. Multi-vendor governance — ONLY when win/loss shows demand (not required for reposition).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58384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Package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6:35 · left 3:25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850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COMMERCIAL DISCIPLINE AND INVESTMENT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Deal Desk rules that stop the bleed — fund return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5  ·  GUARDRAILS &amp; INVEST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760720" cy="4114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Floor gross margin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Transform ≥28%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Maximum discount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scope / term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Transition pricing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Knowledge-transfer mandatory · min 8% Year-1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Scope change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of annual contract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Credits / penalties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M1–6 · Finance revenue-recognition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64592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FIRST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Q1: Rate card · tiers · Deal Desk toolkit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Q2: Service-level catalogue · 2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Q3–4: Packs · renewal step-up · scale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Year 2: Retire headcount-only contracts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114800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2519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Custom tooling per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proofs of concept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kit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76872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7:50 · left 2:10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CROSS-FUNCTIONAL PLAN AND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6  ·  ALIGN &amp;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73152" cy="21945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bids on tier + rate card by Q2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ROI calculator · weekly reviews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73152" cy="219456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Application Ops by tier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One-pagers · proof stories · retire staffing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73152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Revenue recognition · margin floors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bid sign-off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73152" cy="21945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service-level catalogue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playbook · renewal step-ups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6908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0624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Flat → +8–12%   ·   Gross margin recover 3–4 percentage points (e.g. toward 25–27%)   ·   Tier adoption ≥80%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Price variance &lt;15%   ·   Wins on value/total-cost ≥40%   ·   Renewal step-up ≥25%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Feedback: monthly Deal Desk overrides → quarterly Pricing Council (±3% rate card) → annual sunset re-test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9536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Align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8:55 · left 1:05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650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CLOSE AND HAND TO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Reposition. Land with tiers. Expand when value is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Transform). Do not sunset. Do not evolve tooling without fixing the sellable unit. Fund guardrails in Quarter 1; pilot in two regions; measure with a quarterly Pricing Council.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9184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THOUGHT PROCESS THEY SHOULD HEAR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Diagnose with five lenses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2 Synthesize commercial root causes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3 Decide with trade-offs → Reposition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4 Package / guardrail / enable / measure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2918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29000"/>
            <a:ext cx="5074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+ global rate 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two regional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Product owner + monthly steering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607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10:00 · left 0:00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650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
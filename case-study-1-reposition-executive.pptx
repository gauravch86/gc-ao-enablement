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~1:30</a:t>
            </a:r>
          </a:p>
          <a:p>
            <a:r>
              <a:t>Open with the paradox: strong NPS, flat sales, margin down — so this is a commercial problem, not a delivery turnaround.</a:t>
            </a:r>
          </a:p>
          <a:p>
            <a:r>
              <a:t>State hypothesis: sold as FTEs; market buys outcomes/TCO/autonomy.</a:t>
            </a:r>
          </a:p>
          <a:p>
            <a:r>
              <a:t>Preview the 5-step agenda. Mention H3G/TEF as proof anchors only — detail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~2:00</a:t>
            </a:r>
          </a:p>
          <a:p>
            <a:r>
              <a:t>Five diagnostic lenses in ~4 weeks before any portfolio call.</a:t>
            </a:r>
          </a:p>
          <a:p>
            <a:r>
              <a:t>Root causes: commoditized packaging, pricing chaos, value story gap.</a:t>
            </a:r>
          </a:p>
          <a:p>
            <a:r>
              <a:t>Decision: Reposition — sunset destroys footprint; evolve-only won't fix sales/margin.</a:t>
            </a:r>
          </a:p>
          <a:p>
            <a:r>
              <a:t>Outcome-Tiered Application Ops: Stabilize → Optimize → Autonomize.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~2:00</a:t>
            </a:r>
          </a:p>
          <a:p>
            <a:r>
              <a:t>Don't walk every bullet — land the shift: tiers not towers; customer buys CPI class.</a:t>
            </a:r>
          </a:p>
          <a:p>
            <a:r>
              <a:t>Stabilize = land; Optimize = prove TCO; Autonomize = path to AO (Case Study 2).</a:t>
            </a:r>
          </a:p>
          <a:p>
            <a:r>
              <a:t>Attach packs are priced (esp. mandatory KT) — kills Y1 margin bleed.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~2:00</a:t>
            </a:r>
          </a:p>
          <a:p>
            <a:r>
              <a:t>Guardrails = Deal Desk as architect, not discount gate. Hit floor GM and transition pricing hard.</a:t>
            </a:r>
          </a:p>
          <a:p>
            <a:r>
              <a:t>Sequence: commercial assets Q1 (immediate bleed stop), delivery reuse Q2–Q4, AO merge Y2.</a:t>
            </a:r>
          </a:p>
          <a:p>
            <a:r>
              <a:t>Name what you stop — shows product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~1:30</a:t>
            </a:r>
          </a:p>
          <a:p>
            <a:r>
              <a:t>Four functions, one program — SPM chairs monthly steering.</a:t>
            </a:r>
          </a:p>
          <a:p>
            <a:r>
              <a:t>Scoreboard: +8–12% sales, +3–4 pts GM, 80% tier adoption.</a:t>
            </a:r>
          </a:p>
          <a:p>
            <a:r>
              <a:t>Feedback: monthly field signals → quarterly pricing council → annual sunset re-test.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~1:00 then hand to Q&amp;A</a:t>
            </a:r>
          </a:p>
          <a:p>
            <a:r>
              <a:t>Restate the call in one breath. Proof: H3G packaging, TEF reposition.</a:t>
            </a:r>
          </a:p>
          <a:p>
            <a:r>
              <a:t>Four asks. Open Q&amp;A (5 min). Point to HTML case study for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STRATEGIC PRODUCT MANAGER  ·  CASE STUDY 1  ·  10-MIN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853"/>
                </a:solidFill>
                <a:latin typeface="Calibri"/>
              </a:rPr>
              <a:t>Reposition an underperforming portfolio offering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CB3"/>
                </a:solidFill>
                <a:latin typeface="Calibri"/>
              </a:rPr>
              <a:t>Application Managed Services (AMS): strong technical delivery, but commercially stuck — flat net sales, declining margins, Sales cannot articulate value, regional pricing chaos.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NET SALES (2 YRS)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8B9CB3"/>
                </a:solidFill>
                <a:latin typeface="Calibri"/>
              </a:rPr>
              <a:t>Flat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Weak conversion · no attach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9659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075688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GROSS MARGIN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7171"/>
                </a:solidFill>
                <a:latin typeface="Calibri"/>
              </a:rPr>
              <a:t>−4–6 pts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Discount · scope creep · KT bleed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9659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075688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DELIVERY NPS / C-SAT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FB950"/>
                </a:solidFill>
                <a:latin typeface="Calibri"/>
              </a:rPr>
              <a:t>Strong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Execution is not the problem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5760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947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WORKING HYPOTHESIS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Commercially mis-positioned — sold as FTE headcount while the market buys outcomes, autonomy, and TCO reduction. Delivery excellence exists; the product story, packaging, and pricing model do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AGENDA  ·  10 minutes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1  Diagnose   →   2  Decide (evolve / reposition / sunset)   →   3  Package &amp; price   →   4  Prioritize &amp; align   →   5  Measure &amp; close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Proof anchors:  H3G UK  $125m packaging &amp; economics   ·   TEF Argentina  $100m renewal reposition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DIAGNOSIS FRAMEWORK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853"/>
                </a:solidFill>
                <a:latin typeface="Calibri"/>
              </a:rPr>
              <a:t>Strong delivery. Broken commercial model. → Reposition.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325880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WIN / LOSS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15–20 deals · tag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price vs value vs unclear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23444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8648" y="1325880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GM waterfall · discount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· KT overrun · CR leak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23444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4648" y="1325880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COMPETITIVE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FTE SI vs outcome /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AO product MS shift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23444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0648" y="1325880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VOICE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NPS high + willingness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to pay low = story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23444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8" y="1325880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PORTFOLIO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18-mo GM path?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Attach to AO / products?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8036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8036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Commoditized packaging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Sold as L1/L2/L3 FTE towers — procurement benches us vs SIs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88036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88036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301752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Pricing chaos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Regional ad-hoc discounts · underpriced KT · unpaid scope creep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88036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288036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01752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Value story 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Buyers want TCO &amp; autonomy path; we pitch headcount replacement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4340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48056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B9CB3"/>
                </a:solidFill>
                <a:latin typeface="Calibri"/>
              </a:rPr>
              <a:t>SUNSET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Rejects delivery DNA &amp;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Ericsson footprint.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Only if no 18-mo GM path.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34340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48056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B9CB3"/>
                </a:solidFill>
                <a:latin typeface="Calibri"/>
              </a:rPr>
              <a:t>EVOLVE ONLY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Tooling without SKU change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fixes neither sales narrative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nor margin guardrails.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434340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0" y="4343400"/>
            <a:ext cx="3611880" cy="169164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2" y="448056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Calibri"/>
              </a:rPr>
              <a:t>REPOSITION  ✓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Outcome-tiered Application Ops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→ Optimize → Autonomize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Evolve modules underneath.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REVISED PRICING &amp; PACKAGING  · 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853"/>
                </a:solidFill>
                <a:latin typeface="Calibri"/>
              </a:rPr>
              <a:t>Sell tiers &amp; outcomes — not FTE towers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Value prop:  Outcome-guaranteed Application Operations with a built-in ramp to autonomy — reducing customer TCO while protecting margin through standardized tiers &amp; global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3611880" cy="7315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246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D4A853"/>
                </a:solidFill>
                <a:latin typeface="Calibri"/>
              </a:rPr>
              <a:t>STABILIZE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Restore control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Backlog burn · SLA baseline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Single accountability · CPI board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Top-offender program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Price: platform + app-class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GM ≥ 22%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645920"/>
            <a:ext cx="361188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246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8A6FF"/>
                </a:solidFill>
                <a:latin typeface="Calibri"/>
              </a:rPr>
              <a:t>OPTIMIZE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TCO &amp; MTTR proof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Unified observability / SPOG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GenAI SOP · automation factory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Outcome-band pricing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Gain-share on TCO proof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GM ≥ 26%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645920"/>
            <a:ext cx="361188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828800"/>
            <a:ext cx="3246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AUTONOMIZE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Path to L3–L4 autonomy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Closed-loop · policy packs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Soft-ramp CPI contract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Milestone + performance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On-ramp to reusable AO SKU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GM ≥ 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7492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MODULAR ATTACH  ·  priced, not free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Observability jump-start (90d)   ·   Top-offender sprint (6mo)   ·   Transition accelerator (mandatory KT)   ·   Vendor-consolidation bridge   ·   FTE sizing stays internal — customer buys service class &amp; CPI attainment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COMMERCIAL GUARDRAILS  ·  INVESTMENT SEQUENCING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853"/>
                </a:solidFill>
                <a:latin typeface="Calibri"/>
              </a:rPr>
              <a:t>Deal Desk rules that stop the bleed — fund ROI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5760720" cy="49377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PRICING GUARDRAILS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Floor GM%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≥22% · Optimize ≥26% · Autonomize ≥30%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Max discount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≤12% off list (≤8% renewals) — trade for scope / term / step-up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Transition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KT module mandatory on new logos · min 8% of Y1 ACV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Scope CR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work cap 2% ACV · 5-day CR cycle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Regional variance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Like-for-like within ±15% of global rate card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CPI / penalty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Soft-ramp M1–6 · credit caps · Finance rev-rec sign-off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188720"/>
            <a:ext cx="5212080" cy="2880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32588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FUND  ·  HIGH ROI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Q1: Global rate card · tier SKUs · ROI calc · Deal Desk rules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Q2: CPI catalogue · transition factory · 2 regional pilots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Q3–4: Observability pack · SPOG · automation library · renewals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Y2: Autonomize scale → merge with reusable AO offering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425196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43891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STOP / DEPRIORITIZE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Per-account custom observability builds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Below-floor PoCs to “win logo”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Regional bespoke rate cards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Rebrand without sales / Deal Desk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CROSS-FUNCTIONAL ALIGNMENT  ·  SUCCESS METRICS &amp;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853"/>
                </a:solidFill>
                <a:latin typeface="Calibri"/>
              </a:rPr>
              <a:t>One program — Sales, Marketing, Finance, Regions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73152" cy="2331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SALES / DEAL DESK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≥80% bids on tier SKU by Q2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Discovery kit · ROI · margin waterfall · weekly pilot deal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18872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188720"/>
            <a:ext cx="73152" cy="233172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32588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MARKETING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One narrative: Apps Ops → Autonomy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Tier one-pagers · proof stories · retire FTE-tower language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18872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73152" cy="2331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2588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FINANCE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Rev-rec compliant · GM floors in ERP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Platform vs milestone memo · penalty lot accounting · bid sign-off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18872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0" y="1188720"/>
            <a:ext cx="73152" cy="2331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32588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REGIONS / DELIVERY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Pilots hit CPI catalogue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KT playbook · SDM board · QBR tier step-ups · train-the-trainer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9039"/>
            <a:ext cx="111556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40480"/>
            <a:ext cx="10789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12-MONTH SCOREBOARD  ·  Quarterly Pricing Council adjusts tiers / floors / packs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Net sales  Flat → +8–12%          Gross margin  recover +3–4 pts          Tier SKU adoption  ≥80%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Regional price variance  &lt;15%          Wins citing value/TCO  ≥40%          Renewal step-up  ≥25% Optimize+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Feedback loop: monthly Deal Desk overrides + CR volume → quarterly pricing council (±3% rate card) → annual sunset re-test &amp; Autonomize → AO SKU merge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RECOMMENDATION  · 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853"/>
                </a:solidFill>
                <a:latin typeface="Calibri"/>
              </a:rPr>
              <a:t>Reposition AMS. Land with tiers. Expand to autonomy.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THE CALL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Calibri"/>
              </a:rPr>
              <a:t>Reposition Application Managed Services as Outcome-Tiered Application Operations (Stabilize → Optimize → Autonomize). Do not sunset a delivery-capable franchise. Do not evolve tooling without fixing the commercial SKU. Fund guardrails &amp; enablement in Q1; pilot in two regions; measure with a quarterly pricing council.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175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WHY CREDIBLE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H3G UK — $125m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75 CPIs · priced transition · 474→336 economics — sold transformation, not FTEs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TEF Argentina — $100m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Repositioned accountability &amp; KPI transparency when the story was broken → renewal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0175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154680"/>
            <a:ext cx="5074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ASK OF LEADERSHIP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Approve reposition mandate &amp; global rate card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Stand up Deal Desk guardrails this quarter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Authorize 2 regional pilots (UK + LATAM)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Name SPM owner + monthly steering forum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B9CB3"/>
                </a:solidFill>
                <a:latin typeface="Calibri"/>
              </a:rPr>
              <a:t>Q&amp;A  ·  5 minutes     ·     Detail appendix: full diagnosis scorecard, rate-card rules, CPI catalogue, enablement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
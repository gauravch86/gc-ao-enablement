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 minute 30 seconds</a:t>
            </a:r>
          </a:p>
          <a:p/>
          <a:p>
            <a:r>
              <a:t>WHAT TO SAY:</a:t>
            </a:r>
          </a:p>
          <a:p>
            <a:r>
              <a:t>Open with the paradox: delivery Net Promoter Score / customer satisfaction is strong, yet net sales are flat and gross margin has fallen illustratively from about 28% to 22–24% — that is a drop of four to six percentage points over two years. That means this is NOT a delivery crisis — it is a commercial and go-to-market failure.</a:t>
            </a:r>
          </a:p>
          <a:p/>
          <a:p>
            <a:r>
              <a:t>Define the offering once: Application Managed Services — application support sold today as staffing (people and hours).</a:t>
            </a:r>
          </a:p>
          <a:p/>
          <a:p>
            <a:r>
              <a:t>State the executive framing: buyers purchase outcomes, cost predictability, and risk reduction; we sell headcount. Leadership asked us to choose evolve, reposition, or sunset. Walk the agenda.</a:t>
            </a:r>
          </a:p>
          <a:p/>
          <a:p>
            <a:r>
              <a:t>GLOSSARY (if asked):</a:t>
            </a:r>
          </a:p>
          <a:p>
            <a:r>
              <a:t>• Net sales = booked revenue after discounts, before cost</a:t>
            </a:r>
          </a:p>
          <a:p>
            <a:r>
              <a:t>• Gross margin = (net sales − direct delivery cost) ÷ net sales. Example 28% → 22–24% = −4 to −6 percentage points (not “percent of percent”)</a:t>
            </a:r>
          </a:p>
          <a:p>
            <a:r>
              <a:t>• Deal Desk = the commercial approval function that reviews discounts, terms, and exceptions</a:t>
            </a:r>
          </a:p>
          <a:p>
            <a:r>
              <a:t>• Attach = selling additional modules or higher tiers onto an existing deal or renewal</a:t>
            </a:r>
          </a:p>
          <a:p/>
          <a:p>
            <a:r>
              <a:t>DO NOT: dive into technology, automation, or vendor consolidation on slide 1 — stay commercial.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 minutes</a:t>
            </a:r>
          </a:p>
          <a:p/>
          <a:p>
            <a:r>
              <a:t>WHAT TO SAY:</a:t>
            </a:r>
          </a:p>
          <a:p>
            <a:r>
              <a:t>Before any portfolio decision, run a four-week diagnostic across five lenses. Decision triggers matter: if losses are “value unclear,” positioning is broken; if margin erosion is mostly discount, guardrails are broken.</a:t>
            </a:r>
          </a:p>
          <a:p/>
          <a:p>
            <a:r>
              <a:t>Name three root causes — packaging, pricing chaos, value story — all commercial.</a:t>
            </a:r>
          </a:p>
          <a:p/>
          <a:p>
            <a:r>
              <a:t>Decision matrix: Sunset destroys footprint. Evolve-only (tooling without changing the sellable unit) will not fix Sales or Deal Desk. Recommendation is REPOSITION to Outcome-Tiered Application Operations: Stabilize → Optimize → Transform.</a:t>
            </a:r>
          </a:p>
          <a:p/>
          <a:p>
            <a:r>
              <a:t>GLOSSARY:</a:t>
            </a:r>
          </a:p>
          <a:p>
            <a:r>
              <a:t>• Sellable unit = what appears on the customer proposal (tier + packs), not internal staffing plan</a:t>
            </a:r>
          </a:p>
          <a:p>
            <a:r>
              <a:t>• Knowledge transfer = paid transition from incumbent / customer teams into our operating model</a:t>
            </a:r>
          </a:p>
          <a:p>
            <a:r>
              <a:t>• Systems integrator = competitor selling labour-led application support</a:t>
            </a:r>
          </a:p>
          <a:p>
            <a:r>
              <a:t>• Transform tier = operating-model uplift (automation share, fewer fire drills, executive scorecard) — NOT a mandatory “autonomy product” dependency</a:t>
            </a:r>
          </a:p>
          <a:p/>
          <a:p>
            <a:r>
              <a:t>TRADE-OFF TO VOLUNTEER: near-term average deal size may dip; attach and renewal step-up recover value while margin quality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 minutes</a:t>
            </a:r>
          </a:p>
          <a:p/>
          <a:p>
            <a:r>
              <a:t>WHAT TO SAY:</a:t>
            </a:r>
          </a:p>
          <a:p>
            <a:r>
              <a:t>The customer-facing product is a tier, not a headcount pyramid. Staffing remains an internal delivery plan.</a:t>
            </a:r>
          </a:p>
          <a:p/>
          <a:p>
            <a:r>
              <a:t>Walk Stabilize → Optimize → Transform as a commercial ladder Sales can land and expand.</a:t>
            </a:r>
          </a:p>
          <a:p>
            <a:r>
              <a:t>• Stabilize: stop the bleeding — backlog, service levels, single accountability</a:t>
            </a:r>
          </a:p>
          <a:p>
            <a:r>
              <a:t>• Optimize: prove efficiency against contracted service levels</a:t>
            </a:r>
          </a:p>
          <a:p>
            <a:r>
              <a:t>• Transform: operating-model uplift with milestone reviews — Finance must approve revenue recognition before proposal</a:t>
            </a:r>
          </a:p>
          <a:p/>
          <a:p>
            <a:r>
              <a:t>Stress: transition / knowledge-transfer is MANDATORY and priced — underpriced transition is the leading Year-1 margin killer.</a:t>
            </a:r>
          </a:p>
          <a:p/>
          <a:p>
            <a:r>
              <a:t>On multi-vendor consolidation: say clearly — “That is an optional pack when win/loss shows buyers consolidating suppliers. It is not required for this reposition. We do not need consolidation to justify tiers.”</a:t>
            </a:r>
          </a:p>
          <a:p/>
          <a:p>
            <a:r>
              <a:t>GLOSSARY:</a:t>
            </a:r>
          </a:p>
          <a:p>
            <a:r>
              <a:t>• Platform fee = recurring base charge for the operating model / tooling baseline</a:t>
            </a:r>
          </a:p>
          <a:p>
            <a:r>
              <a:t>• Criticality class = how business-critical the application is (drives unit price)</a:t>
            </a:r>
          </a:p>
          <a:p>
            <a:r>
              <a:t>• Outcome-band pricing = price tied to service-level bands (availability, restore time), not hours</a:t>
            </a:r>
          </a:p>
          <a:p>
            <a:r>
              <a:t>• Gain-share = optional commercial where we share proven customer cost reduction</a:t>
            </a:r>
          </a:p>
          <a:p>
            <a:r>
              <a:t>• Total cost of ownership = customer’s full run cost including governance and failure cost, not only our invoice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 minutes</a:t>
            </a:r>
          </a:p>
          <a:p/>
          <a:p>
            <a:r>
              <a:t>WHAT TO SAY:</a:t>
            </a:r>
          </a:p>
          <a:p>
            <a:r>
              <a:t>Guardrails turn Deal Desk into a deal architect: discounts are traded for scope, term, or tier step-up — not given away.</a:t>
            </a:r>
          </a:p>
          <a:p/>
          <a:p>
            <a:r>
              <a:t>Hit three hard rules interviewers will probe:</a:t>
            </a:r>
          </a:p>
          <a:p>
            <a:r>
              <a:t>1) Floor gross margin by tier</a:t>
            </a:r>
          </a:p>
          <a:p>
            <a:r>
              <a:t>2) Mandatory priced knowledge-transfer (minimum 8% of Year-1 annual contract value)</a:t>
            </a:r>
          </a:p>
          <a:p>
            <a:r>
              <a:t>3) Regional variance capped at ±15% versus global rate card</a:t>
            </a:r>
          </a:p>
          <a:p/>
          <a:p>
            <a:r>
              <a:t>Investment sequence shows product discipline: commercial assets first (they unblock Sales this quarter), then delivery standards, then harvest. Explicit stop list proves you will not fund vanity work.</a:t>
            </a:r>
          </a:p>
          <a:p/>
          <a:p>
            <a:r>
              <a:t>GLOSSARY:</a:t>
            </a:r>
          </a:p>
          <a:p>
            <a:r>
              <a:t>• Annual contract value = expected revenue for one contract year</a:t>
            </a:r>
          </a:p>
          <a:p>
            <a:r>
              <a:t>• Soft-ramp = reduced service-credit exposure in early months while the operating model stabilizes</a:t>
            </a:r>
          </a:p>
          <a:p>
            <a:r>
              <a:t>• Revenue recognition = Finance rules for when revenue can be booked (critical for milestone / credit elements)</a:t>
            </a:r>
          </a:p>
          <a:p>
            <a:r>
              <a:t>• Rate card = approved global list prices and regional index bands</a:t>
            </a:r>
          </a:p>
          <a:p>
            <a:r>
              <a:t>• Q1 / Q2 = calendar or fiscal quarters one and two of the program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 minute 30 seconds</a:t>
            </a:r>
          </a:p>
          <a:p/>
          <a:p>
            <a:r>
              <a:t>WHAT TO SAY:</a:t>
            </a:r>
          </a:p>
          <a:p>
            <a:r>
              <a:t>Repositioning is a portfolio program. Name owners:</a:t>
            </a:r>
          </a:p>
          <a:p>
            <a:r>
              <a:t>• Sales / Deal Desk — adoption of the sellable unit</a:t>
            </a:r>
          </a:p>
          <a:p>
            <a:r>
              <a:t>• Marketing — one narrative; kill staffing-tower language</a:t>
            </a:r>
          </a:p>
          <a:p>
            <a:r>
              <a:t>• Finance — revenue recognition and gross-margin floors before any creative commercial construct</a:t>
            </a:r>
          </a:p>
          <a:p>
            <a:r>
              <a:t>• Regions / Delivery — pilots prove the catalogue is deliverable</a:t>
            </a:r>
          </a:p>
          <a:p/>
          <a:p>
            <a:r>
              <a:t>Scoreboard is how leadership knows it worked: sales growth, margin recovery, tier adoption, price consistency, win reasons, renewal step-up — without trading away delivery satisfaction.</a:t>
            </a:r>
          </a:p>
          <a:p/>
          <a:p>
            <a:r>
              <a:t>Pricing Council is the continuous refinement mechanism the brief asks for.</a:t>
            </a:r>
          </a:p>
          <a:p/>
          <a:p>
            <a:r>
              <a:t>GLOSSARY:</a:t>
            </a:r>
          </a:p>
          <a:p>
            <a:r>
              <a:t>• Pricing Council = quarterly forum (Product, Sales, Finance, regions) that adjusts rate card and packs from field evidence</a:t>
            </a:r>
          </a:p>
          <a:p>
            <a:r>
              <a:t>• Renewal step-up = moving a live account from Stabilize to Optimize/Transform at renewal</a:t>
            </a:r>
          </a:p>
          <a:p>
            <a:r>
              <a:t>• Change request = formal scope change; unpaid change requests are a hidden margin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 minute, then hand to questions (5 minutes)</a:t>
            </a:r>
          </a:p>
          <a:p/>
          <a:p>
            <a:r>
              <a:t>WHAT TO SAY:</a:t>
            </a:r>
          </a:p>
          <a:p>
            <a:r>
              <a:t>Restate the call in one breath. Emphasize thought process: evidence → separate delivery from commercial → decide with trade-offs → fund Sales motion before tooling → optional strategies only when data supports them.</a:t>
            </a:r>
          </a:p>
          <a:p/>
          <a:p>
            <a:r>
              <a:t>Close with four concrete asks. Then: “Happy to go deep on any lens, guardrail, or pilot design.”</a:t>
            </a:r>
          </a:p>
          <a:p/>
          <a:p>
            <a:r>
              <a:t>LIKELY QUESTIONS AND SHORT ANSWERS:</a:t>
            </a:r>
          </a:p>
          <a:p>
            <a:r>
              <a:t>• Why not sunset? Delivery asset + footprint; 18-month margin path exists via reposition.</a:t>
            </a:r>
          </a:p>
          <a:p>
            <a:r>
              <a:t>• Won’t smaller tiers cut revenue? Near term maybe; attach + renewal step-up + better margin quality.</a:t>
            </a:r>
          </a:p>
          <a:p>
            <a:r>
              <a:t>• How fast on rate card? Quarter 1 mandate; two pilots before forced global cutover.</a:t>
            </a:r>
          </a:p>
          <a:p>
            <a:r>
              <a:t>• Finance concern on outcome pricing? Platform fee first; milestone / credit elements only with revenue-recognition memo.</a:t>
            </a:r>
          </a:p>
          <a:p>
            <a:r>
              <a:t>• Is vendor consolidation required? No — optional pack when win/loss shows consolidation demand.</a:t>
            </a:r>
          </a:p>
          <a:p>
            <a:r>
              <a:t>• How is this different from your lived delivery experience? This case is a portfolio commercial problem — packaging, pricing governance, and Sales enablement — solved with product-management discipline, not an operating-model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STRATEGIC PRODUCT MANAGER  ·  CASE STUDY 1  ·  10-MINUTE COMMERCIAL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Reposition an underperforming portfolio offering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Application Managed Services: strong technical delivery, but commercially stuck — flat net sales, declining gross margin, Sales cannot articulate value, inconsistent regional pricing.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84247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NET SALES (2 YEARS)</a:t>
            </a:r>
          </a:p>
          <a:p>
            <a:pPr algn="ctr">
              <a:spcAft>
                <a:spcPts val="200"/>
              </a:spcAft>
            </a:pPr>
            <a:r>
              <a:rPr sz="2400" b="1">
                <a:solidFill>
                  <a:srgbClr val="8B9CB3"/>
                </a:solidFill>
                <a:latin typeface="Calibri"/>
              </a:rPr>
              <a:t>Flat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Weak conversion · little attach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74519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984247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GROSS MARGIN (ILLUSTRATIVE)</a:t>
            </a:r>
          </a:p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87171"/>
                </a:solidFill>
                <a:latin typeface="Calibri"/>
              </a:rPr>
              <a:t>28% → 22–24%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−4 to −6 percentage points over 2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874519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84247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DELIVERY SATISFACTION</a:t>
            </a:r>
          </a:p>
          <a:p>
            <a:pPr algn="ctr">
              <a:spcAft>
                <a:spcPts val="200"/>
              </a:spcAft>
            </a:pPr>
            <a:r>
              <a:rPr sz="2400" b="1">
                <a:solidFill>
                  <a:srgbClr val="3FB950"/>
                </a:solidFill>
                <a:latin typeface="Calibri"/>
              </a:rPr>
              <a:t>Strong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Execution is not the failure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2044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57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EXECUTIVE FRAMING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This is a commercial and go-to-market problem — not a delivery turnaround. The offer is sold as headcount while buyers purchase outcomes, cost predictability, and risk reduction. Decide evolve / reposition / sunset with evidence, then fix packaging, pricing discipline, and Sales enablement.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9834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AGENDA  ·  10 MINUTES  (+ 5 MINUTES QUESTIONS)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1  Diagnose   →   2  Decide   →   3  Package &amp; price   →   4  Prioritize &amp; align   →   5  Measure &amp; ask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Leadership question answered: evolve, reposition, or sunset — with a plan Sales, Deal Desk, Finance, and regions can 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DIAGNOSIS FRAMEWORK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Strong delivery. Broken commercial model. → Reposition.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WIN / LOSS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15–20 deals: tag losses as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price-only vs value unclear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8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MARGIN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Gross-margin waterfall: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discount · transition · unpaid 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4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COMPETITIVE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Staff augmentation vs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outcome-packaged peers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0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CUSTOMER VOICE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High satisfaction + low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willingness to pay = story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18872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8" y="12801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PORTFOLIO FIT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18-month margin path?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alibri"/>
              </a:rPr>
              <a:t>Strategic pull-through?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889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Commoditized packaging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Sold as Level-1/2/3 staffing towers — procurement benches us against systems integrators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7889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7889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9260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Pricing chaos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Regional ad-hoc discounts · underpriced knowledge transfer · unpaid scope creep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7889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27889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9260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Value story gap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Buyers want outcomes and predictability; Sales pitches headcount replacement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519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3891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8B9CB3"/>
                </a:solidFill>
                <a:latin typeface="Calibri"/>
              </a:rPr>
              <a:t>SUNSET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Rejects delivery DNA &amp;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account footprint.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Only if no 18-month margin path.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2519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3891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8B9CB3"/>
                </a:solidFill>
                <a:latin typeface="Calibri"/>
              </a:rPr>
              <a:t>EVOLVE ONLY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More tooling, same sellable unit.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Fixes neither Sales narrative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nor pricing discipline.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42519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0" y="4251960"/>
            <a:ext cx="3611880" cy="178308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2" y="43891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Calibri"/>
              </a:rPr>
              <a:t>REPOSITION  ✓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Outcome-tiered Application Ops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→ Optimize → Transform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Evolve modules selectively.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REVISED PRICING AND PACKAGING  · 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Sell tiers and outcomes — not staffing towers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Value proposition: outcome-tiered managed applications — restore control, improve total cost of ownership where contracted, and give Sales a globally consistent story with Deal Desk pricing discipline.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611880" cy="7315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D4A853"/>
                </a:solidFill>
                <a:latin typeface="Calibri"/>
              </a:rPr>
              <a:t>STABILIZE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Restore control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Backlog reduction · service-level baseline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Single accountability · monthly board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Top-offender (highest-impact) program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Price: platform fee + criticality class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gross margin ≥ 22%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0020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600200"/>
            <a:ext cx="361188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58A6FF"/>
                </a:solidFill>
                <a:latin typeface="Calibri"/>
              </a:rPr>
              <a:t>OPTIMIZE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Prove efficiency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Standard monitoring / correlation pack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Runbook automation · proactive problems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Outcome-band pricing vs service levels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Optional gain-share on proven savings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gross margin ≥ 26%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60020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600200"/>
            <a:ext cx="361188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783080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TRANSFORM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Operating-model uplift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Continuous-improvement factory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+ Policy-based standard changes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Milestone elements (Finance sign-off)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Executive scorecard · fewer fire drills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Floor gross margin ≥ 28%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2920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1206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MODULAR ATTACH PACKS  ·  PRICED, NOT FREE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Mandatory: Transition / knowledge-transfer module on new logos.  Optional: top-offender sprint · monitoring jump-start.  Multi-vendor governance pack — ONLY when win/loss shows consolidation demand (applicable possibility, not required strategy).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COMMERCIAL GUARDRAILS  ·  INVESTMENT SEQUENCING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Deal Desk rules that stop the bleed — fund return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5760720" cy="4983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3949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PRICING GUARDRAILS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Floor gross margin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≥22% · Optimize ≥26% · Transform ≥28%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Maximum discount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≤12% off list (≤8% renewals) — trade for scope / term / step-up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Transition pricing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Knowledge-transfer mandatory · min 8% of Year-1 contract value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Scope change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work cap 2% of annual contract value · 5-day cycle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Regional variance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Like-for-like within ±15% of global rate card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Credits / penalties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Soft-ramp months 1–6 · Finance revenue-recognition sign-off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143000"/>
            <a:ext cx="5212080" cy="2880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FUND  ·  HIGH RETURN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Q1: Rate card · tier definitions · Deal Desk toolkit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Q2: Service-level catalogue · transition factory · 2 pilots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Q3–4: Modular packs · renewal step-up · scale enablement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▸  Year 2: Retire headcount-only contracts on renewal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420624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434340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STOP / DEPRIORITIZE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Per-account custom tooling builds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Below-floor proofs of concept to “win logo”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Regional bespoke rate cards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Rebrand without Sales / Deal Desk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CROSS-FUNCTIONAL ALIGNMENT  ·  SUCCESS METRICS AND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One program — Sales, Marketing, Finance, regions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73152" cy="2331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SALES / DEAL DESK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≥80% of bids on tier + rate card by Quarter 2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Discovery kit · return-on-investment calculator · weekly pilot deal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143000"/>
            <a:ext cx="73152" cy="233172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MARKETING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One narrative: Application Operations by outcome tier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Tier one-pagers · proof stories · retire staffing-tower language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43000"/>
            <a:ext cx="73152" cy="2331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FINANCE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Revenue-recognition compliant · gross-margin floors in bid model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Platform vs milestone memo · credit accounting · bid sign-off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0" y="1143000"/>
            <a:ext cx="73152" cy="2331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280160"/>
            <a:ext cx="24231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REGIONS / DELIVERY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Pilots hit standard service-level catalogue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playbook · performance board · renewal step-ups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404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12-MONTH SCOREBOARD  ·  Quarterly Pricing Council adjusts tiers / floors / packs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Net sales  Flat → +8–12%          Gross margin  recover 3–4 percentage points (e.g. toward 25–27%)          Tier adoption  ≥80% of pipeline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Regional price variance  &lt;15%          Wins citing value / total-cost story  ≥40%          Renewal step-up  ≥25%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Feedback loop: monthly Deal Desk overrides + change-request volume → quarterly Pricing Council (±3% rate-card index) → annual sunset re-test and Transform demand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RECOMMENDATION  · 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Reposition. Land with tiers. Expand when value is proven.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THE CALL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Reposition Application Managed Services as Outcome-Tiered Application Operations (Stabilize → Optimize → Transform). Do not sunset a delivery-capable franchise. Do not evolve tooling without fixing the commercial sellable unit. Fund guardrails and enablement in Quarter 1; pilot in two regions; measure with a quarterly Pricing Council.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108960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THOUGHT PROCESS (WHY THIS IS EXECUTIVE)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Evidence before instinct — five-lens diagnostic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Separate delivery quality from commercial failure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Choose with trade-offs; fund Sales motion before tooling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Optional packs (e.g. multi-vendor) only when data says 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971800"/>
            <a:ext cx="5440680" cy="2240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108960"/>
            <a:ext cx="50749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ASK OF LEADERSHIP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Approve reposition mandate and global rate 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Stand up Deal Desk guardrails this quarter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Authorize two regional pilots before global cutover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Name Strategic Product Manager owner + monthly steering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dive: HTML case study (diagnosis scorecard, full guardrail table, enablement plan)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
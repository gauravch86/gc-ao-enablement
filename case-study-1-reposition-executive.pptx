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Open on the dual SPM mandate: new revenue AND margin/EBIT — not “fix delivery” alone.</a:t>
            </a:r>
          </a:p>
          <a:p>
            <a:r>
              <a:t>Paradox: NPS strong, sales flat, GM illustratively 28%→22–24%.</a:t>
            </a:r>
          </a:p>
          <a:p>
            <a:r>
              <a:t>Preview the storyline as answering the case asks in order: package/price → guardrails/invest → align/metrics → ask.</a:t>
            </a:r>
          </a:p>
          <a:p>
            <a:r>
              <a:t>Discount thesis in one line: discount to protect topline only when we trade for scope/term/investment.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Walk A→E. Win/loss = top 10 accounts (not random 15–20 deals).</a:t>
            </a:r>
          </a:p>
          <a:p>
            <a:r>
              <a:t>On Margin: emphasize whether discounts bought something (scope, term, attach) or were free bleed.</a:t>
            </a:r>
          </a:p>
          <a:p>
            <a:r>
              <a:t>Portfolio fit now includes path to BOTH topline and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~1:20</a:t>
            </a:r>
          </a:p>
          <a:p/>
          <a:p>
            <a:r>
              <a:t>Make discount point land hard: we do NOT ban discounts — we ban discounts that buy nothing.</a:t>
            </a:r>
          </a:p>
          <a:p>
            <a:r>
              <a:t>Proper use: sustain topline while negotiating additional scope, multi-year term, attach packs, or customer-funded enablement.</a:t>
            </a:r>
          </a:p>
          <a:p>
            <a:r>
              <a:t>All three causes are commercial; delivery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~1:10</a:t>
            </a:r>
          </a:p>
          <a:p/>
          <a:p>
            <a:r>
              <a:t>Recommendation: REPOSITION. Explicitly dual outcome — new sales growth AND margin recovery.</a:t>
            </a:r>
          </a:p>
          <a:p>
            <a:r>
              <a:t>Evolve-only fails both levers. Sunset destroys the footprint SPM would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~1:25</a:t>
            </a:r>
          </a:p>
          <a:p/>
          <a:p>
            <a:r>
              <a:t>This slide answers: revised packaging + pricing + updated value proposition.</a:t>
            </a:r>
          </a:p>
          <a:p>
            <a:r>
              <a:t>Ladder: Stabilize lands new logos → Optimize expands → Transform deepens.</a:t>
            </a:r>
          </a:p>
          <a:p>
            <a:r>
              <a:t>Each tier has a GM floor — topline growth with margin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~1:20</a:t>
            </a:r>
          </a:p>
          <a:p/>
          <a:p>
            <a:r>
              <a:t>This slide answers: commercial guardrails/pricing guidelines AND investment prioritization.</a:t>
            </a:r>
          </a:p>
          <a:p>
            <a:r>
              <a:t>Discount rule to verbalize: discount protects topline only when negotiated for more scope, longer term, or attach — increasing total contracted value / investment, not giving margin away.</a:t>
            </a:r>
          </a:p>
          <a:p>
            <a:r>
              <a:t>Fund commercial assets before tooling. Explicit stop list = ROI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~1:10</a:t>
            </a:r>
          </a:p>
          <a:p/>
          <a:p>
            <a:r>
              <a:t>Answers: cross-functional alignment + success metrics + continuous feedback loop.</a:t>
            </a:r>
          </a:p>
          <a:p>
            <a:r>
              <a:t>Scoreboard splits NEW REVENUE vs MARGIN/EBIT so interviewers hear the dual SPM mandate.</a:t>
            </a:r>
          </a:p>
          <a:p>
            <a:r>
              <a:t>Pricing Council = how pricing/commercial models stay alive from market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~1:00 then Q&amp;A</a:t>
            </a:r>
          </a:p>
          <a:p/>
          <a:p>
            <a:r>
              <a:t>Restate dual outcome: new revenue + margin recovery.</a:t>
            </a:r>
          </a:p>
          <a:p>
            <a:r>
              <a:t>Point at “case asks covered” — packaging, guardrails, invest, align, metrics.</a:t>
            </a:r>
          </a:p>
          <a:p>
            <a:r>
              <a:t>Four asks. Hand to questions.</a:t>
            </a:r>
          </a:p>
          <a:p/>
          <a:p>
            <a:r>
              <a:t>Q&amp;A: discount philosophy · sunset · deal size dip · Finance rev-rec · optional multi-vendor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STRATEGIC PRODUCT MANAGER  ·  CASE STUDY 1  ·  DUAL MANDATE: NEW REVENUE +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Grow topline. Protect EBIT. Reposition the offering.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9CB3"/>
                </a:solidFill>
                <a:latin typeface="Calibri"/>
              </a:rPr>
              <a:t>Application Managed Services: strong delivery, but commercially stuck — flat net sales, gross margin 28% → 22–24%, Sales cannot sell value, regions discount without trading scope.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B9CB3"/>
                </a:solidFill>
                <a:latin typeface="Calibri"/>
              </a:rPr>
              <a:t>SPM OWNS — NEW SALES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58A6FF"/>
                </a:solidFill>
                <a:latin typeface="Calibri"/>
              </a:rPr>
              <a:t>Topline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Net sales · attach · expansion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84708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B9CB3"/>
                </a:solidFill>
                <a:latin typeface="Calibri"/>
              </a:rPr>
              <a:t>SPM OWNS — PROFITABILITY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4A853"/>
                </a:solidFill>
                <a:latin typeface="Calibri"/>
              </a:rPr>
              <a:t>Margin / EBIT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Gross margin · deal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4708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B9CB3"/>
                </a:solidFill>
                <a:latin typeface="Calibri"/>
              </a:rPr>
              <a:t>TODAY’S PARADOX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87171"/>
                </a:solidFill>
                <a:latin typeface="Calibri"/>
              </a:rPr>
              <a:t>Strong NPS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Flat sales · eroding GM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THE JOB IN THIS ROLE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Strategic Product Manager is accountable for both new revenue (new sales / topline) and profitability (gross margin / EBIT contribution). Discounts are a growth tool — used to sustain revenue only when traded for additional scope, term, or customer investment that increases total value — never free margin bleed.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WHAT LEADERSHIP GETS IN 10 MINUTES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Calibri"/>
              </a:rPr>
              <a:t>1  Diagnose  →  2  Findings  →  3  Reposition decision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Calibri"/>
              </a:rPr>
              <a:t>4  Revised packaging &amp; value proposition   ·   5  Guardrails + investment ROI sequence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Calibri"/>
              </a:rPr>
              <a:t>6  Sales · Marketing · Finance · regional enablement + metrics feedback loop   ·   7  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1 OF 7  ·  EVIDENCE BEFORE ANY PORTFOLIO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Five-lens diagnosis — what we would gather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STAGE 1  ·  FIVE-LENS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Four-week commercial diagnostic · parallel workstreams · one steering forum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14884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214884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28800"/>
            <a:ext cx="1920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A  WIN / LOSS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Top 10 accounts.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Tag losses: price-only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vs value unclear.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Trigger: value unclear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&gt;30% → positioning broken.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00200"/>
            <a:ext cx="214884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600200"/>
            <a:ext cx="214884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828800"/>
            <a:ext cx="1920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B  MARGIN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GM waterfall: discount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· transition · unpaid scope.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Ask: was discount traded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for scope / term / attach?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Bleed without trade → fix.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14884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600200"/>
            <a:ext cx="214884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1828800"/>
            <a:ext cx="1920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C  COMPETITIVE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Staff augmentation vs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outcome-packaged peers.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Trigger: buyers ask for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tiers → reposition.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600200"/>
            <a:ext cx="214884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600200"/>
            <a:ext cx="214884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1828800"/>
            <a:ext cx="1920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D  CUSTOMER VOICE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High satisfaction +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low willingness to pay =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story gap, not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execution gap.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600200"/>
            <a:ext cx="214884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46920" y="1600200"/>
            <a:ext cx="214884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1828800"/>
            <a:ext cx="1920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E  PORTFOLIO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18-month path to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topline + margin?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Pull-through?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Sunset only if both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1 Diagnose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Findings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Decide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Package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Guardrails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Align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2 OF 7  ·  ILLUSTRATIVE SYNTHESIS FROM THE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Root causes — commercial, not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STAGE 2  ·  ILLUSTRATIVE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Three failures that kill new sales and erode EBIT at the same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361188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1  WRONG SELLABLE UNIT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Sold as L1/L2/L3 staffing towers.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Procurement benches rate-per-person — new logos stall.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D4A853"/>
                </a:solidFill>
                <a:latin typeface="Calibri"/>
              </a:rPr>
              <a:t>Hits topline: flat net sales · weak attach.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61188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2  DISCOUNT WITHOUT TRADE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Regions discount to hit quota — no floor, no scope trade.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Should be: discount sustained revenue only when traded for more scope, term, or investment.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D4A853"/>
                </a:solidFill>
                <a:latin typeface="Calibri"/>
              </a:rPr>
              <a:t>Hits margin: GM 28% → 22–24% while NPS 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361188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3  VALUE STORY GAP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Buyers want outcomes and predictability.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Sales still pitches headcount replacement.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D4A853"/>
                </a:solidFill>
                <a:latin typeface="Calibri"/>
              </a:rPr>
              <a:t>Hits both: cannot win new revenue or defend price.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Diagnose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2 Findings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Decide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Package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Guardrails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Align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3 OF 7  ·  PORTFOLIO CALL WITH EXPLICIT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Decision → Reposition (grow sales + restore margin)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STAGE 3  ·  DECISION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Change what Sales sells and how Deal Desk prices — tooling alone will not fix either P&amp;L lever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8B9CB3"/>
                </a:solidFill>
                <a:latin typeface="Calibri"/>
              </a:rPr>
              <a:t>SUNSET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Rejects delivery DNA and account footprint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Competitors inherit the revenue base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Only if no 18-month path to sales + margin AND no pull-through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Not indicated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8B9CB3"/>
                </a:solidFill>
                <a:latin typeface="Calibri"/>
              </a:rPr>
              <a:t>EVOLVE ONLY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More tooling — same sellable unit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Does not fix Sales narrative or new-logo conversion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Does not stop discount-without-trade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•  Necessary later; insufficient alone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611880" cy="416052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3FB950"/>
                </a:solidFill>
                <a:latin typeface="Calibri"/>
              </a:rPr>
              <a:t>REPOSITION  ✓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Outcome-tiered Application Operations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Stabilize → Optimize → Transform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New value prop + pricing + Deal Desk rules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Trade-off: near-term deal size may dip; attach + renewals + cleaner GM recover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Diagnose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39896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3 Decide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Package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Guardrails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Align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4 OF 7  ·  REVISED PACKAGING, PRICING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What Sales sells — tiers, outcomes, clearer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STAGE 4  ·  PACKAGE &amp;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7315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46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D4A853"/>
                </a:solidFill>
                <a:latin typeface="Calibri"/>
              </a:rPr>
              <a:t>STABILIZE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Land — restore control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Backlog · service-level baseline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Single accountability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Platform fee + criticality class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Floor GM ≥ 22% · entry for new logos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1188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246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58A6FF"/>
                </a:solidFill>
                <a:latin typeface="Calibri"/>
              </a:rPr>
              <a:t>OPTIMIZE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Expand — prove efficiency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+ Monitoring / automation packs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Outcome-band vs service levels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Optional gain-share on savings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Floor GM ≥ 26% · attach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361188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83080"/>
            <a:ext cx="3246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FB950"/>
                </a:solidFill>
                <a:latin typeface="Calibri"/>
              </a:rPr>
              <a:t>TRANSFORM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Deepen — operating uplift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+ Continuous improvement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Milestone elements (Finance OK)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Executive scorecard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Floor GM ≥ 28% · premium renewals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64608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UPDATED VALUE PROPOSITION  ·  ONE LINE FOR SALES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“Ericsson Application Operations — outcome-tiered managed applications that restore control, improve total cost of ownership where contracted, and give Sales a globally consistent story with Deal Desk pricing discipline that grows revenue without giving margin away.”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Diagnose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Findings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Decide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58384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4 Package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Guardrails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Align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5 OF 7  ·  COMMERCIAL GUARDRAILS + INVESTMENT ROI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Deal Desk rules + what we fund (and stop)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71F7"/>
                </a:solidFill>
                <a:latin typeface="Calibri"/>
              </a:rPr>
              <a:t>STAGE 5  ·  GUARDRAILS &amp; INVEST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760720" cy="42062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COMMERCIAL GUARDRAILS  ·  DEAL DESK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Floor gross margin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Stabilize ≥22% · Optimize ≥26% · Transform ≥28%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Discount = trade, not gift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≤12% off list only if traded for scope, term ≥24 mo, or attach pack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Sustain topline rule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If discount needed to keep/win revenue → must increase contracted value or commitment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Transition pricing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Knowledge-transfer mandatory · min 8% Year-1 contract value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Scope change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Unpaid work cap 2% of annual contract value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Regional variance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Like-for-like within ±15% of global rate card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Credits / penalties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6EDF3"/>
                </a:solidFill>
                <a:latin typeface="Calibri"/>
              </a:rPr>
              <a:t>Soft-ramp M1–6 · Finance revenue-recognition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521208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alibri"/>
              </a:rPr>
              <a:t>FUND FIRST  ·  MAX ROI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▸  Q1: Rate card · tier kit · Deal Desk playbook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▸  Q2: Service-level catalogue · 2 regional pilots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▸  Q3–4: Attach packs · renewal step-up motions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▸  Year 2: Retire headcount-only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02336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1605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DEPRIORITIZE / STOP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×  Custom tooling per account before global kit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×  Below-floor proofs of concept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×  Regional bespoke rate cards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×  Rebrand without Sales / Deal Desk kit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Diagnose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Decide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6872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5 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Align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6 OF 7  ·  CROSS-FUNCTIONAL PLAN + SUCCESS METRICS +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One program — Sales, Marketing, Finance, regions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STAGE 6  ·  ALIGN &amp; MEASURE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73152" cy="2148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164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SALES / DEAL DESK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alibri"/>
              </a:rPr>
              <a:t>≥80% bids on tier + rate card by Q2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Discovery kit · ROI calc · discount-trade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73152" cy="214884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9164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A371F7"/>
                </a:solidFill>
                <a:latin typeface="Calibri"/>
              </a:rPr>
              <a:t>MARKETING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alibri"/>
              </a:rPr>
              <a:t>One narrative: App Ops by tier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One-pagers · proof · retire staffing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73152" cy="21488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69164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FINANCE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alibri"/>
              </a:rPr>
              <a:t>Rev-rec · margin floors · EBIT view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Platform vs milestone memo · bid sign-off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554480"/>
            <a:ext cx="73152" cy="21488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69164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REGIONS / ENABLE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alibri"/>
              </a:rPr>
              <a:t>Pilots hit catalogue · renewals step up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KT playbook · regional train-the-trainer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86200"/>
            <a:ext cx="11155680" cy="19659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10789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12-MONTH SCOREBOARD  ·  BOTH SPM LEVERS  ·  Quarterly Pricing Council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NEW REVENUE: Net sales Flat → +8–12%   ·   Tier adoption ≥80%   ·   Wins on value/TCO ≥40%   ·   Renewal step-up ≥25%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MARGIN / EBIT: Recover 3–4 GM pts (e.g. toward 25–27%)   ·   Price variance &lt;15%   ·   ≥70% discounts have documented scope/term trade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Feedback loop: monthly Deal Desk overrides → quarterly Pricing Council (±3% rate card, pack prices) → annual sunset / reposition re-test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Diagnose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Findings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Decide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Guardrails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6 Align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7 OF 7  ·  CLOSE AND HAND TO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Reposition. Win new revenue. Restore margin.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STAGE 7  ·  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THE CALL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Reposition Application Managed Services as Outcome-Tiered Application Operations (Stabilize → Optimize → Transform). Do not sunset. Do not evolve tooling without fixing the sellable unit. Use discounts to sustain topline only when traded for scope, term, or investment. Fund Deal Desk guardrails in Q1; pilot in two regions; govern with a quarterly Pricing Council.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CASE ASKS — COVERED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✓ Packaging · pricing · value proposition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✓ Commercial / Deal Desk guardrails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✓ Invest sequence + what to stop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✓ Sales · Marketing · Finance · regions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✓ Metrics + Pricing Council feedback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074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ASK OF LEADERSHIP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Approve reposition + global rate card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Stand up Deal Desk trade rules this quarter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Authorize two regional pilots (new sales)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Name Product owner + monthly steering on sales + GM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Diagnose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Decide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Guardrails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Align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13848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7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1 · Reposition underperforming offering · Gaurav Chaudhary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
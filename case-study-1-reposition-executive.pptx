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~1:15</a:t>
            </a:r>
          </a:p>
          <a:p/>
          <a:p>
            <a:r>
              <a:t>Paradox first: delivery satisfaction strong, sales flat, margin illustratively 28% → 22–24%.</a:t>
            </a:r>
          </a:p>
          <a:p>
            <a:r>
              <a:t>Commercial problem, not delivery. Storyline is sequential — one stage per slide.</a:t>
            </a:r>
          </a:p>
          <a:p>
            <a:r>
              <a:t>In framing: we will fix packaging/pricing so net sales and gross margin recover together;</a:t>
            </a:r>
          </a:p>
          <a:p>
            <a:r>
              <a:t>discounts are a trade for scope/term/attach — not free bleed.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~1:15</a:t>
            </a:r>
          </a:p>
          <a:p/>
          <a:p>
            <a:r>
              <a:t>Walk A→E. Win/loss = top 10 accounts (not random 15–20 deals).</a:t>
            </a:r>
          </a:p>
          <a:p>
            <a:r>
              <a:t>On Margin: emphasize whether discounts bought something (scope, term, attach) or were free bleed.</a:t>
            </a:r>
          </a:p>
          <a:p>
            <a:r>
              <a:t>Portfolio fit now includes path to BOTH topline and margin.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~1:20</a:t>
            </a:r>
          </a:p>
          <a:p/>
          <a:p>
            <a:r>
              <a:t>Make discount point land hard: we do NOT ban discounts — we ban discounts that buy nothing.</a:t>
            </a:r>
          </a:p>
          <a:p>
            <a:r>
              <a:t>Proper use: sustain topline while negotiating additional scope, multi-year term, attach packs, or customer-funded enablement.</a:t>
            </a:r>
          </a:p>
          <a:p>
            <a:r>
              <a:t>All three causes are commercial; delivery is fine.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a:t>
            </a:r>
          </a:p>
          <a:p/>
          <a:p>
            <a:r>
              <a:t>Recommendation: REPOSITION. Explicitly dual outcome — new sales growth AND margin recovery.</a:t>
            </a:r>
          </a:p>
          <a:p>
            <a:r>
              <a:t>Evolve-only fails both levers. Sunset destroys the footprint SPM would grow.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~1:25</a:t>
            </a:r>
          </a:p>
          <a:p/>
          <a:p>
            <a:r>
              <a:t>This slide answers: revised packaging + pricing + updated value proposition.</a:t>
            </a:r>
          </a:p>
          <a:p>
            <a:r>
              <a:t>Ladder: Stabilize lands new logos → Optimize expands → Autonomize deepens.</a:t>
            </a:r>
          </a:p>
          <a:p>
            <a:r>
              <a:t>Each tier has a GM floor — topline growth with margin discipline.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~1:20</a:t>
            </a:r>
          </a:p>
          <a:p/>
          <a:p>
            <a:r>
              <a:t>Hit only 2–3 numbers verbally (floor GM ladder; discount=trade; fund Q1 Deal Desk). Rest is backup.</a:t>
            </a:r>
          </a:p>
          <a:p>
            <a:r>
              <a:t>Why not just cut price? One line on the slide. AI Deal Desk assist = commercializing AI intelligence without removing human approval.</a:t>
            </a:r>
          </a:p>
          <a:p>
            <a:r>
              <a:t>Fund commercial assets before tooling. Explicit stop list = ROI discipline.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a:t>
            </a:r>
          </a:p>
          <a:p/>
          <a:p>
            <a:r>
              <a:t>Answers: cross-functional alignment + success metrics + continuous feedback loop.</a:t>
            </a:r>
          </a:p>
          <a:p>
            <a:r>
              <a:t>Scoreboard tracks net sales and gross margin recovery plus commercial hygiene (tier adoption, discount trades).</a:t>
            </a:r>
          </a:p>
          <a:p>
            <a:r>
              <a:t>Pricing Council = how pricing/commercial models stay alive from market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~1:00 then Q&amp;A</a:t>
            </a:r>
          </a:p>
          <a:p/>
          <a:p>
            <a:r>
              <a:t>Restate call. Point at the four-step thought process — that is the interview signal.</a:t>
            </a:r>
          </a:p>
          <a:p>
            <a:r>
              <a:t>Then four asks. Hand to questions.</a:t>
            </a:r>
          </a:p>
          <a:p>
            <a:r>
              <a:t>Bridge: “This is the kind of trade-off conversation I’d bring to this role.”</a:t>
            </a:r>
          </a:p>
          <a:p>
            <a:r>
              <a:t>HTML is leave-behind depth — not the live walkthrough.</a:t>
            </a:r>
          </a:p>
          <a:p/>
          <a:p>
            <a:r>
              <a:t>Q&amp;A:</a:t>
            </a:r>
          </a:p>
          <a:p>
            <a:r>
              <a:t>• Why not just cut price? Free discount buys volume that destroys GM and trains the market — we trade discount for scope/term/attach.</a:t>
            </a:r>
          </a:p>
          <a:p>
            <a:r>
              <a:t>• Sunset / deal size dip / Finance rev-rec / optional multi-vendor pack.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STRATEGIC PRODUCT MANAGER  ·  CASE STUDY 1  ·  10-MINUTE COMMERCIAL BRIEF</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Reposition an underperforming portfolio offering</a:t>
            </a:r>
          </a:p>
        </p:txBody>
      </p:sp>
      <p:sp>
        <p:nvSpPr>
          <p:cNvPr id="5" name="TextBox 4"/>
          <p:cNvSpPr txBox="1"/>
          <p:nvPr/>
        </p:nvSpPr>
        <p:spPr>
          <a:xfrm>
            <a:off x="502920" y="1097280"/>
            <a:ext cx="11155680" cy="502920"/>
          </a:xfrm>
          <a:prstGeom prst="rect">
            <a:avLst/>
          </a:prstGeom>
          <a:noFill/>
        </p:spPr>
        <p:txBody>
          <a:bodyPr wrap="square">
            <a:spAutoFit/>
          </a:bodyPr>
          <a:lstStyle/>
          <a:p>
            <a:pPr algn="l">
              <a:spcAft>
                <a:spcPts val="0"/>
              </a:spcAft>
            </a:pPr>
            <a:r>
              <a:rPr sz="1400" b="0">
                <a:solidFill>
                  <a:srgbClr val="8B9CB3"/>
                </a:solidFill>
                <a:latin typeface="Calibri"/>
              </a:rPr>
              <a:t>Application Managed Services: strong technical delivery, but commercially stuck — flat net sales, declining gross margin, Sales cannot articulate value, inconsistent regional pricing.</a:t>
            </a:r>
          </a:p>
        </p:txBody>
      </p:sp>
      <p:sp>
        <p:nvSpPr>
          <p:cNvPr id="6" name="Rounded Rectangle 5"/>
          <p:cNvSpPr/>
          <p:nvPr/>
        </p:nvSpPr>
        <p:spPr>
          <a:xfrm>
            <a:off x="502920" y="1783080"/>
            <a:ext cx="3566160" cy="132588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92808"/>
            <a:ext cx="3291840" cy="1143000"/>
          </a:xfrm>
          <a:prstGeom prst="rect">
            <a:avLst/>
          </a:prstGeom>
          <a:noFill/>
        </p:spPr>
        <p:txBody>
          <a:bodyPr wrap="square">
            <a:spAutoFit/>
          </a:bodyPr>
          <a:lstStyle/>
          <a:p>
            <a:pPr algn="ctr">
              <a:spcAft>
                <a:spcPts val="200"/>
              </a:spcAft>
            </a:pPr>
            <a:r>
              <a:rPr sz="1000" b="1">
                <a:solidFill>
                  <a:srgbClr val="8B9CB3"/>
                </a:solidFill>
                <a:latin typeface="Calibri"/>
              </a:rPr>
              <a:t>NET SALES (2 YEARS)</a:t>
            </a:r>
          </a:p>
          <a:p>
            <a:pPr algn="ctr">
              <a:spcAft>
                <a:spcPts val="200"/>
              </a:spcAft>
            </a:pPr>
            <a:r>
              <a:rPr sz="2200" b="1">
                <a:solidFill>
                  <a:srgbClr val="8B9CB3"/>
                </a:solidFill>
                <a:latin typeface="Calibri"/>
              </a:rPr>
              <a:t>Flat</a:t>
            </a:r>
          </a:p>
          <a:p>
            <a:pPr algn="ctr">
              <a:spcAft>
                <a:spcPts val="0"/>
              </a:spcAft>
            </a:pPr>
            <a:r>
              <a:rPr sz="1100" b="0">
                <a:solidFill>
                  <a:srgbClr val="8B9CB3"/>
                </a:solidFill>
                <a:latin typeface="Calibri"/>
              </a:rPr>
              <a:t>Weak conversion · little attach</a:t>
            </a:r>
          </a:p>
        </p:txBody>
      </p:sp>
      <p:sp>
        <p:nvSpPr>
          <p:cNvPr id="8" name="Rounded Rectangle 7"/>
          <p:cNvSpPr/>
          <p:nvPr/>
        </p:nvSpPr>
        <p:spPr>
          <a:xfrm>
            <a:off x="4297680" y="1783080"/>
            <a:ext cx="3566160" cy="132588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34840" y="1892808"/>
            <a:ext cx="3291840" cy="1143000"/>
          </a:xfrm>
          <a:prstGeom prst="rect">
            <a:avLst/>
          </a:prstGeom>
          <a:noFill/>
        </p:spPr>
        <p:txBody>
          <a:bodyPr wrap="square">
            <a:spAutoFit/>
          </a:bodyPr>
          <a:lstStyle/>
          <a:p>
            <a:pPr algn="ctr">
              <a:spcAft>
                <a:spcPts val="200"/>
              </a:spcAft>
            </a:pPr>
            <a:r>
              <a:rPr sz="1000" b="1">
                <a:solidFill>
                  <a:srgbClr val="8B9CB3"/>
                </a:solidFill>
                <a:latin typeface="Calibri"/>
              </a:rPr>
              <a:t>GROSS MARGIN (ILLUSTRATIVE)</a:t>
            </a:r>
          </a:p>
          <a:p>
            <a:pPr algn="ctr">
              <a:spcAft>
                <a:spcPts val="200"/>
              </a:spcAft>
            </a:pPr>
            <a:r>
              <a:rPr sz="2200" b="1">
                <a:solidFill>
                  <a:srgbClr val="F87171"/>
                </a:solidFill>
                <a:latin typeface="Calibri"/>
              </a:rPr>
              <a:t>28% → 22–24%</a:t>
            </a:r>
          </a:p>
          <a:p>
            <a:pPr algn="ctr">
              <a:spcAft>
                <a:spcPts val="0"/>
              </a:spcAft>
            </a:pPr>
            <a:r>
              <a:rPr sz="1100" b="0">
                <a:solidFill>
                  <a:srgbClr val="8B9CB3"/>
                </a:solidFill>
                <a:latin typeface="Calibri"/>
              </a:rPr>
              <a:t>−4 to −6 percentage points over 2 years</a:t>
            </a:r>
          </a:p>
        </p:txBody>
      </p:sp>
      <p:sp>
        <p:nvSpPr>
          <p:cNvPr id="10" name="Rounded Rectangle 9"/>
          <p:cNvSpPr/>
          <p:nvPr/>
        </p:nvSpPr>
        <p:spPr>
          <a:xfrm>
            <a:off x="8092440" y="1783080"/>
            <a:ext cx="3566160" cy="132588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92808"/>
            <a:ext cx="3291840" cy="1143000"/>
          </a:xfrm>
          <a:prstGeom prst="rect">
            <a:avLst/>
          </a:prstGeom>
          <a:noFill/>
        </p:spPr>
        <p:txBody>
          <a:bodyPr wrap="square">
            <a:spAutoFit/>
          </a:bodyPr>
          <a:lstStyle/>
          <a:p>
            <a:pPr algn="ctr">
              <a:spcAft>
                <a:spcPts val="200"/>
              </a:spcAft>
            </a:pPr>
            <a:r>
              <a:rPr sz="1000" b="1">
                <a:solidFill>
                  <a:srgbClr val="8B9CB3"/>
                </a:solidFill>
                <a:latin typeface="Calibri"/>
              </a:rPr>
              <a:t>DELIVERY SATISFACTION</a:t>
            </a:r>
          </a:p>
          <a:p>
            <a:pPr algn="ctr">
              <a:spcAft>
                <a:spcPts val="200"/>
              </a:spcAft>
            </a:pPr>
            <a:r>
              <a:rPr sz="2200" b="1">
                <a:solidFill>
                  <a:srgbClr val="3FB950"/>
                </a:solidFill>
                <a:latin typeface="Calibri"/>
              </a:rPr>
              <a:t>Strong</a:t>
            </a:r>
          </a:p>
          <a:p>
            <a:pPr algn="ctr">
              <a:spcAft>
                <a:spcPts val="0"/>
              </a:spcAft>
            </a:pPr>
            <a:r>
              <a:rPr sz="1100" b="0">
                <a:solidFill>
                  <a:srgbClr val="8B9CB3"/>
                </a:solidFill>
                <a:latin typeface="Calibri"/>
              </a:rPr>
              <a:t>Execution is not the failure mode</a:t>
            </a:r>
          </a:p>
        </p:txBody>
      </p:sp>
      <p:sp>
        <p:nvSpPr>
          <p:cNvPr id="12" name="Rounded Rectangle 11"/>
          <p:cNvSpPr/>
          <p:nvPr/>
        </p:nvSpPr>
        <p:spPr>
          <a:xfrm>
            <a:off x="502920" y="3337560"/>
            <a:ext cx="11155680" cy="105156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474720"/>
            <a:ext cx="10789920" cy="822960"/>
          </a:xfrm>
          <a:prstGeom prst="rect">
            <a:avLst/>
          </a:prstGeom>
          <a:noFill/>
        </p:spPr>
        <p:txBody>
          <a:bodyPr wrap="square">
            <a:spAutoFit/>
          </a:bodyPr>
          <a:lstStyle/>
          <a:p>
            <a:pPr algn="l">
              <a:spcAft>
                <a:spcPts val="400"/>
              </a:spcAft>
            </a:pPr>
            <a:r>
              <a:rPr sz="1100" b="1">
                <a:solidFill>
                  <a:srgbClr val="58A6FF"/>
                </a:solidFill>
                <a:latin typeface="Calibri"/>
              </a:rPr>
              <a:t>EXECUTIVE FRAMING</a:t>
            </a:r>
          </a:p>
          <a:p>
            <a:pPr algn="l">
              <a:spcAft>
                <a:spcPts val="0"/>
              </a:spcAft>
            </a:pPr>
            <a:r>
              <a:rPr sz="1300" b="0">
                <a:solidFill>
                  <a:srgbClr val="E6EDF3"/>
                </a:solidFill>
                <a:latin typeface="Calibri"/>
              </a:rPr>
              <a:t>Commercial / go-to-market problem — not a delivery turnaround. Sold as headcount; buyers purchase outcomes, cost predictability, and risk reduction. Plan must restore net sales and gross margin together — discounts only when traded for scope, term, or attach. Leadership asks: evolve, reposition, or sunset.</a:t>
            </a:r>
          </a:p>
        </p:txBody>
      </p:sp>
      <p:sp>
        <p:nvSpPr>
          <p:cNvPr id="14" name="TextBox 13"/>
          <p:cNvSpPr txBox="1"/>
          <p:nvPr/>
        </p:nvSpPr>
        <p:spPr>
          <a:xfrm>
            <a:off x="502920" y="4617720"/>
            <a:ext cx="11155680" cy="1417320"/>
          </a:xfrm>
          <a:prstGeom prst="rect">
            <a:avLst/>
          </a:prstGeom>
          <a:noFill/>
        </p:spPr>
        <p:txBody>
          <a:bodyPr wrap="square">
            <a:spAutoFit/>
          </a:bodyPr>
          <a:lstStyle/>
          <a:p>
            <a:pPr algn="l">
              <a:spcAft>
                <a:spcPts val="800"/>
              </a:spcAft>
            </a:pPr>
            <a:r>
              <a:rPr sz="1100" b="1">
                <a:solidFill>
                  <a:srgbClr val="D4A853"/>
                </a:solidFill>
                <a:latin typeface="Calibri"/>
              </a:rPr>
              <a:t>STORYLINE  ·  ONE STAGE PER SLIDE  ·  10 MIN + 5 MIN QUESTIONS</a:t>
            </a:r>
          </a:p>
          <a:p>
            <a:pPr algn="l">
              <a:spcAft>
                <a:spcPts val="300"/>
              </a:spcAft>
            </a:pPr>
            <a:r>
              <a:rPr sz="1400" b="1">
                <a:solidFill>
                  <a:srgbClr val="E6EDF3"/>
                </a:solidFill>
                <a:latin typeface="Calibri"/>
              </a:rPr>
              <a:t>1  Five-lens diagnosis</a:t>
            </a:r>
          </a:p>
          <a:p>
            <a:pPr algn="l">
              <a:spcAft>
                <a:spcPts val="300"/>
              </a:spcAft>
            </a:pPr>
            <a:r>
              <a:rPr sz="1400" b="1">
                <a:solidFill>
                  <a:srgbClr val="E6EDF3"/>
                </a:solidFill>
                <a:latin typeface="Calibri"/>
              </a:rPr>
              <a:t>2  Illustrative findings (what the data would show)</a:t>
            </a:r>
          </a:p>
          <a:p>
            <a:pPr algn="l">
              <a:spcAft>
                <a:spcPts val="300"/>
              </a:spcAft>
            </a:pPr>
            <a:r>
              <a:rPr sz="1400" b="1">
                <a:solidFill>
                  <a:srgbClr val="E6EDF3"/>
                </a:solidFill>
                <a:latin typeface="Calibri"/>
              </a:rPr>
              <a:t>3  Decision framework → Reposition</a:t>
            </a:r>
          </a:p>
          <a:p>
            <a:pPr algn="l">
              <a:spcAft>
                <a:spcPts val="0"/>
              </a:spcAft>
            </a:pPr>
            <a:r>
              <a:rPr sz="1400" b="1">
                <a:solidFill>
                  <a:srgbClr val="E6EDF3"/>
                </a:solidFill>
                <a:latin typeface="Calibri"/>
              </a:rPr>
              <a:t>4  Package &amp; price   ·   5  Guardrails &amp; invest   ·   6  Align &amp; measure   ·   7  Ask</a:t>
            </a:r>
          </a:p>
        </p:txBody>
      </p:sp>
      <p:sp>
        <p:nvSpPr>
          <p:cNvPr id="15" name="TextBox 14"/>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16" name="TextBox 15"/>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1 OF 7  ·  EVIDENCE BEFORE ANY PORTFOLIO CALL</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Five-lens diagnosis — what we would gather</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58A6FF"/>
                </a:solidFill>
                <a:latin typeface="Calibri"/>
              </a:rPr>
              <a:t>STAGE 1  ·  FIVE-LENS DIAGNOSIS</a:t>
            </a:r>
          </a:p>
        </p:txBody>
      </p:sp>
      <p:sp>
        <p:nvSpPr>
          <p:cNvPr id="8" name="TextBox 7"/>
          <p:cNvSpPr txBox="1"/>
          <p:nvPr/>
        </p:nvSpPr>
        <p:spPr>
          <a:xfrm>
            <a:off x="3246120" y="1097280"/>
            <a:ext cx="8412480" cy="320040"/>
          </a:xfrm>
          <a:prstGeom prst="rect">
            <a:avLst/>
          </a:prstGeom>
          <a:noFill/>
        </p:spPr>
        <p:txBody>
          <a:bodyPr wrap="none">
            <a:spAutoFit/>
          </a:bodyPr>
          <a:lstStyle/>
          <a:p>
            <a:pPr algn="l">
              <a:spcAft>
                <a:spcPts val="0"/>
              </a:spcAft>
            </a:pPr>
            <a:r>
              <a:rPr sz="1300" b="0">
                <a:solidFill>
                  <a:srgbClr val="8B9CB3"/>
                </a:solidFill>
                <a:latin typeface="Calibri"/>
              </a:rPr>
              <a:t>Four-week commercial diagnostic · parallel workstreams · one steering forum</a:t>
            </a:r>
          </a:p>
        </p:txBody>
      </p:sp>
      <p:sp>
        <p:nvSpPr>
          <p:cNvPr id="9" name="Rounded Rectangle 8"/>
          <p:cNvSpPr/>
          <p:nvPr/>
        </p:nvSpPr>
        <p:spPr>
          <a:xfrm>
            <a:off x="502920" y="1600200"/>
            <a:ext cx="214884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00200"/>
            <a:ext cx="214884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828800"/>
            <a:ext cx="1920240" cy="3794760"/>
          </a:xfrm>
          <a:prstGeom prst="rect">
            <a:avLst/>
          </a:prstGeom>
          <a:noFill/>
        </p:spPr>
        <p:txBody>
          <a:bodyPr wrap="square">
            <a:spAutoFit/>
          </a:bodyPr>
          <a:lstStyle/>
          <a:p>
            <a:pPr algn="l">
              <a:spcAft>
                <a:spcPts val="800"/>
              </a:spcAft>
            </a:pPr>
            <a:r>
              <a:rPr sz="1200" b="1">
                <a:solidFill>
                  <a:srgbClr val="58A6FF"/>
                </a:solidFill>
                <a:latin typeface="Calibri"/>
              </a:rPr>
              <a:t>A  WIN / LOSS</a:t>
            </a:r>
          </a:p>
          <a:p>
            <a:pPr algn="l">
              <a:spcAft>
                <a:spcPts val="300"/>
              </a:spcAft>
            </a:pPr>
            <a:r>
              <a:rPr sz="1200" b="0">
                <a:solidFill>
                  <a:srgbClr val="E6EDF3"/>
                </a:solidFill>
                <a:latin typeface="Calibri"/>
              </a:rPr>
              <a:t>Top 10 accounts.</a:t>
            </a:r>
          </a:p>
          <a:p>
            <a:pPr algn="l">
              <a:spcAft>
                <a:spcPts val="300"/>
              </a:spcAft>
            </a:pPr>
            <a:r>
              <a:rPr sz="1200" b="0">
                <a:solidFill>
                  <a:srgbClr val="E6EDF3"/>
                </a:solidFill>
                <a:latin typeface="Calibri"/>
              </a:rPr>
              <a:t>Tag losses: price-only</a:t>
            </a:r>
          </a:p>
          <a:p>
            <a:pPr algn="l">
              <a:spcAft>
                <a:spcPts val="300"/>
              </a:spcAft>
            </a:pPr>
            <a:r>
              <a:rPr sz="1200" b="0">
                <a:solidFill>
                  <a:srgbClr val="E6EDF3"/>
                </a:solidFill>
                <a:latin typeface="Calibri"/>
              </a:rPr>
              <a:t>vs value unclear.</a:t>
            </a:r>
          </a:p>
          <a:p>
            <a:pPr algn="l">
              <a:spcAft>
                <a:spcPts val="300"/>
              </a:spcAft>
            </a:pPr>
            <a:r>
              <a:rPr sz="1200" b="0">
                <a:solidFill>
                  <a:srgbClr val="E6EDF3"/>
                </a:solidFill>
                <a:latin typeface="Calibri"/>
              </a:rPr>
              <a:t>Trigger: value unclear</a:t>
            </a:r>
          </a:p>
          <a:p>
            <a:pPr algn="l">
              <a:spcAft>
                <a:spcPts val="300"/>
              </a:spcAft>
            </a:pPr>
            <a:r>
              <a:rPr sz="1200" b="0">
                <a:solidFill>
                  <a:srgbClr val="E6EDF3"/>
                </a:solidFill>
                <a:latin typeface="Calibri"/>
              </a:rPr>
              <a:t>&gt;30% → positioning broken.</a:t>
            </a:r>
          </a:p>
        </p:txBody>
      </p:sp>
      <p:sp>
        <p:nvSpPr>
          <p:cNvPr id="12" name="Rounded Rectangle 11"/>
          <p:cNvSpPr/>
          <p:nvPr/>
        </p:nvSpPr>
        <p:spPr>
          <a:xfrm>
            <a:off x="2788920" y="1600200"/>
            <a:ext cx="214884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88920" y="1600200"/>
            <a:ext cx="214884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98648" y="1828800"/>
            <a:ext cx="1920240" cy="3794760"/>
          </a:xfrm>
          <a:prstGeom prst="rect">
            <a:avLst/>
          </a:prstGeom>
          <a:noFill/>
        </p:spPr>
        <p:txBody>
          <a:bodyPr wrap="square">
            <a:spAutoFit/>
          </a:bodyPr>
          <a:lstStyle/>
          <a:p>
            <a:pPr algn="l">
              <a:spcAft>
                <a:spcPts val="800"/>
              </a:spcAft>
            </a:pPr>
            <a:r>
              <a:rPr sz="1200" b="1">
                <a:solidFill>
                  <a:srgbClr val="58A6FF"/>
                </a:solidFill>
                <a:latin typeface="Calibri"/>
              </a:rPr>
              <a:t>B  MARGIN</a:t>
            </a:r>
          </a:p>
          <a:p>
            <a:pPr algn="l">
              <a:spcAft>
                <a:spcPts val="300"/>
              </a:spcAft>
            </a:pPr>
            <a:r>
              <a:rPr sz="1200" b="0">
                <a:solidFill>
                  <a:srgbClr val="E6EDF3"/>
                </a:solidFill>
                <a:latin typeface="Calibri"/>
              </a:rPr>
              <a:t>GM waterfall: discount</a:t>
            </a:r>
          </a:p>
          <a:p>
            <a:pPr algn="l">
              <a:spcAft>
                <a:spcPts val="300"/>
              </a:spcAft>
            </a:pPr>
            <a:r>
              <a:rPr sz="1200" b="0">
                <a:solidFill>
                  <a:srgbClr val="E6EDF3"/>
                </a:solidFill>
                <a:latin typeface="Calibri"/>
              </a:rPr>
              <a:t>· transition · unpaid scope.</a:t>
            </a:r>
          </a:p>
          <a:p>
            <a:pPr algn="l">
              <a:spcAft>
                <a:spcPts val="300"/>
              </a:spcAft>
            </a:pPr>
            <a:r>
              <a:rPr sz="1200" b="0">
                <a:solidFill>
                  <a:srgbClr val="E6EDF3"/>
                </a:solidFill>
                <a:latin typeface="Calibri"/>
              </a:rPr>
              <a:t>Ask: was discount traded</a:t>
            </a:r>
          </a:p>
          <a:p>
            <a:pPr algn="l">
              <a:spcAft>
                <a:spcPts val="300"/>
              </a:spcAft>
            </a:pPr>
            <a:r>
              <a:rPr sz="1200" b="0">
                <a:solidFill>
                  <a:srgbClr val="E6EDF3"/>
                </a:solidFill>
                <a:latin typeface="Calibri"/>
              </a:rPr>
              <a:t>for scope / term / attach?</a:t>
            </a:r>
          </a:p>
          <a:p>
            <a:pPr algn="l">
              <a:spcAft>
                <a:spcPts val="300"/>
              </a:spcAft>
            </a:pPr>
            <a:r>
              <a:rPr sz="1200" b="0">
                <a:solidFill>
                  <a:srgbClr val="E6EDF3"/>
                </a:solidFill>
                <a:latin typeface="Calibri"/>
              </a:rPr>
              <a:t>Bleed without trade → fix.</a:t>
            </a:r>
          </a:p>
        </p:txBody>
      </p:sp>
      <p:sp>
        <p:nvSpPr>
          <p:cNvPr id="15" name="Rounded Rectangle 14"/>
          <p:cNvSpPr/>
          <p:nvPr/>
        </p:nvSpPr>
        <p:spPr>
          <a:xfrm>
            <a:off x="5074920" y="1600200"/>
            <a:ext cx="214884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74920" y="1600200"/>
            <a:ext cx="214884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84648" y="1828800"/>
            <a:ext cx="1920240" cy="3794760"/>
          </a:xfrm>
          <a:prstGeom prst="rect">
            <a:avLst/>
          </a:prstGeom>
          <a:noFill/>
        </p:spPr>
        <p:txBody>
          <a:bodyPr wrap="square">
            <a:spAutoFit/>
          </a:bodyPr>
          <a:lstStyle/>
          <a:p>
            <a:pPr algn="l">
              <a:spcAft>
                <a:spcPts val="800"/>
              </a:spcAft>
            </a:pPr>
            <a:r>
              <a:rPr sz="1200" b="1">
                <a:solidFill>
                  <a:srgbClr val="58A6FF"/>
                </a:solidFill>
                <a:latin typeface="Calibri"/>
              </a:rPr>
              <a:t>C  COMPETITIVE</a:t>
            </a:r>
          </a:p>
          <a:p>
            <a:pPr algn="l">
              <a:spcAft>
                <a:spcPts val="300"/>
              </a:spcAft>
            </a:pPr>
            <a:r>
              <a:rPr sz="1200" b="0">
                <a:solidFill>
                  <a:srgbClr val="E6EDF3"/>
                </a:solidFill>
                <a:latin typeface="Calibri"/>
              </a:rPr>
              <a:t>Staff augmentation vs</a:t>
            </a:r>
          </a:p>
          <a:p>
            <a:pPr algn="l">
              <a:spcAft>
                <a:spcPts val="300"/>
              </a:spcAft>
            </a:pPr>
            <a:r>
              <a:rPr sz="1200" b="0">
                <a:solidFill>
                  <a:srgbClr val="E6EDF3"/>
                </a:solidFill>
                <a:latin typeface="Calibri"/>
              </a:rPr>
              <a:t>outcome-packaged peers.</a:t>
            </a:r>
          </a:p>
          <a:p>
            <a:pPr algn="l">
              <a:spcAft>
                <a:spcPts val="300"/>
              </a:spcAft>
            </a:pPr>
            <a:r>
              <a:rPr sz="1200" b="0">
                <a:solidFill>
                  <a:srgbClr val="E6EDF3"/>
                </a:solidFill>
                <a:latin typeface="Calibri"/>
              </a:rPr>
              <a:t>Trigger: buyers ask for</a:t>
            </a:r>
          </a:p>
          <a:p>
            <a:pPr algn="l">
              <a:spcAft>
                <a:spcPts val="300"/>
              </a:spcAft>
            </a:pPr>
            <a:r>
              <a:rPr sz="1200" b="0">
                <a:solidFill>
                  <a:srgbClr val="E6EDF3"/>
                </a:solidFill>
                <a:latin typeface="Calibri"/>
              </a:rPr>
              <a:t>tiers → reposition.</a:t>
            </a:r>
          </a:p>
        </p:txBody>
      </p:sp>
      <p:sp>
        <p:nvSpPr>
          <p:cNvPr id="18" name="Rounded Rectangle 17"/>
          <p:cNvSpPr/>
          <p:nvPr/>
        </p:nvSpPr>
        <p:spPr>
          <a:xfrm>
            <a:off x="7360920" y="1600200"/>
            <a:ext cx="214884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60920" y="1600200"/>
            <a:ext cx="214884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70648" y="1828800"/>
            <a:ext cx="1920240" cy="3794760"/>
          </a:xfrm>
          <a:prstGeom prst="rect">
            <a:avLst/>
          </a:prstGeom>
          <a:noFill/>
        </p:spPr>
        <p:txBody>
          <a:bodyPr wrap="square">
            <a:spAutoFit/>
          </a:bodyPr>
          <a:lstStyle/>
          <a:p>
            <a:pPr algn="l">
              <a:spcAft>
                <a:spcPts val="800"/>
              </a:spcAft>
            </a:pPr>
            <a:r>
              <a:rPr sz="1200" b="1">
                <a:solidFill>
                  <a:srgbClr val="58A6FF"/>
                </a:solidFill>
                <a:latin typeface="Calibri"/>
              </a:rPr>
              <a:t>D  CUSTOMER VOICE</a:t>
            </a:r>
          </a:p>
          <a:p>
            <a:pPr algn="l">
              <a:spcAft>
                <a:spcPts val="300"/>
              </a:spcAft>
            </a:pPr>
            <a:r>
              <a:rPr sz="1200" b="0">
                <a:solidFill>
                  <a:srgbClr val="E6EDF3"/>
                </a:solidFill>
                <a:latin typeface="Calibri"/>
              </a:rPr>
              <a:t>High satisfaction +</a:t>
            </a:r>
          </a:p>
          <a:p>
            <a:pPr algn="l">
              <a:spcAft>
                <a:spcPts val="300"/>
              </a:spcAft>
            </a:pPr>
            <a:r>
              <a:rPr sz="1200" b="0">
                <a:solidFill>
                  <a:srgbClr val="E6EDF3"/>
                </a:solidFill>
                <a:latin typeface="Calibri"/>
              </a:rPr>
              <a:t>low willingness to pay =</a:t>
            </a:r>
          </a:p>
          <a:p>
            <a:pPr algn="l">
              <a:spcAft>
                <a:spcPts val="300"/>
              </a:spcAft>
            </a:pPr>
            <a:r>
              <a:rPr sz="1200" b="0">
                <a:solidFill>
                  <a:srgbClr val="E6EDF3"/>
                </a:solidFill>
                <a:latin typeface="Calibri"/>
              </a:rPr>
              <a:t>story gap, not</a:t>
            </a:r>
          </a:p>
          <a:p>
            <a:pPr algn="l">
              <a:spcAft>
                <a:spcPts val="300"/>
              </a:spcAft>
            </a:pPr>
            <a:r>
              <a:rPr sz="1200" b="0">
                <a:solidFill>
                  <a:srgbClr val="E6EDF3"/>
                </a:solidFill>
                <a:latin typeface="Calibri"/>
              </a:rPr>
              <a:t>execution gap.</a:t>
            </a:r>
          </a:p>
        </p:txBody>
      </p:sp>
      <p:sp>
        <p:nvSpPr>
          <p:cNvPr id="21" name="Rounded Rectangle 20"/>
          <p:cNvSpPr/>
          <p:nvPr/>
        </p:nvSpPr>
        <p:spPr>
          <a:xfrm>
            <a:off x="9646920" y="1600200"/>
            <a:ext cx="214884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646920" y="1600200"/>
            <a:ext cx="214884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828800"/>
            <a:ext cx="1920240" cy="3794760"/>
          </a:xfrm>
          <a:prstGeom prst="rect">
            <a:avLst/>
          </a:prstGeom>
          <a:noFill/>
        </p:spPr>
        <p:txBody>
          <a:bodyPr wrap="square">
            <a:spAutoFit/>
          </a:bodyPr>
          <a:lstStyle/>
          <a:p>
            <a:pPr algn="l">
              <a:spcAft>
                <a:spcPts val="800"/>
              </a:spcAft>
            </a:pPr>
            <a:r>
              <a:rPr sz="1200" b="1">
                <a:solidFill>
                  <a:srgbClr val="58A6FF"/>
                </a:solidFill>
                <a:latin typeface="Calibri"/>
              </a:rPr>
              <a:t>E  PORTFOLIO FIT</a:t>
            </a:r>
          </a:p>
          <a:p>
            <a:pPr algn="l">
              <a:spcAft>
                <a:spcPts val="300"/>
              </a:spcAft>
            </a:pPr>
            <a:r>
              <a:rPr sz="1200" b="0">
                <a:solidFill>
                  <a:srgbClr val="E6EDF3"/>
                </a:solidFill>
                <a:latin typeface="Calibri"/>
              </a:rPr>
              <a:t>18-month path to</a:t>
            </a:r>
          </a:p>
          <a:p>
            <a:pPr algn="l">
              <a:spcAft>
                <a:spcPts val="300"/>
              </a:spcAft>
            </a:pPr>
            <a:r>
              <a:rPr sz="1200" b="0">
                <a:solidFill>
                  <a:srgbClr val="E6EDF3"/>
                </a:solidFill>
                <a:latin typeface="Calibri"/>
              </a:rPr>
              <a:t>topline + margin?</a:t>
            </a:r>
          </a:p>
          <a:p>
            <a:pPr algn="l">
              <a:spcAft>
                <a:spcPts val="300"/>
              </a:spcAft>
            </a:pPr>
            <a:r>
              <a:rPr sz="1200" b="0">
                <a:solidFill>
                  <a:srgbClr val="E6EDF3"/>
                </a:solidFill>
                <a:latin typeface="Calibri"/>
              </a:rPr>
              <a:t>Pull-through?</a:t>
            </a:r>
          </a:p>
          <a:p>
            <a:pPr algn="l">
              <a:spcAft>
                <a:spcPts val="300"/>
              </a:spcAft>
            </a:pPr>
            <a:r>
              <a:rPr sz="1200" b="0">
                <a:solidFill>
                  <a:srgbClr val="E6EDF3"/>
                </a:solidFill>
                <a:latin typeface="Calibri"/>
              </a:rPr>
              <a:t>Sunset only if both fail.</a:t>
            </a:r>
          </a:p>
        </p:txBody>
      </p:sp>
      <p:sp>
        <p:nvSpPr>
          <p:cNvPr id="24" name="Rounded Rectangle 23"/>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1 Diagnose</a:t>
            </a:r>
          </a:p>
        </p:txBody>
      </p:sp>
      <p:sp>
        <p:nvSpPr>
          <p:cNvPr id="27" name="Rounded Rectangle 26"/>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29" name="Rounded Rectangle 28"/>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31" name="Rounded Rectangle 30"/>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33" name="Rounded Rectangle 32"/>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35" name="Rounded Rectangle 34"/>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37" name="Rounded Rectangle 36"/>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39" name="TextBox 38"/>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40" name="TextBox 39"/>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2 OF 7  ·  ILLUSTRATIVE SYNTHESIS FROM THE DIAGNOSTIC</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Root causes — commercial, not delivery</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F87171"/>
                </a:solidFill>
                <a:latin typeface="Calibri"/>
              </a:rPr>
              <a:t>STAGE 2  ·  ILLUSTRATIVE FINDINGS</a:t>
            </a:r>
          </a:p>
        </p:txBody>
      </p:sp>
      <p:sp>
        <p:nvSpPr>
          <p:cNvPr id="8" name="TextBox 7"/>
          <p:cNvSpPr txBox="1"/>
          <p:nvPr/>
        </p:nvSpPr>
        <p:spPr>
          <a:xfrm>
            <a:off x="3246120" y="1097280"/>
            <a:ext cx="8412480" cy="320040"/>
          </a:xfrm>
          <a:prstGeom prst="rect">
            <a:avLst/>
          </a:prstGeom>
          <a:noFill/>
        </p:spPr>
        <p:txBody>
          <a:bodyPr wrap="none">
            <a:spAutoFit/>
          </a:bodyPr>
          <a:lstStyle/>
          <a:p>
            <a:pPr algn="l">
              <a:spcAft>
                <a:spcPts val="0"/>
              </a:spcAft>
            </a:pPr>
            <a:r>
              <a:rPr sz="1300" b="0">
                <a:solidFill>
                  <a:srgbClr val="8B9CB3"/>
                </a:solidFill>
                <a:latin typeface="Calibri"/>
              </a:rPr>
              <a:t>Three failures that kill new sales and erode EBIT at the same time</a:t>
            </a:r>
          </a:p>
        </p:txBody>
      </p:sp>
      <p:sp>
        <p:nvSpPr>
          <p:cNvPr id="9" name="Rounded Rectangle 8"/>
          <p:cNvSpPr/>
          <p:nvPr/>
        </p:nvSpPr>
        <p:spPr>
          <a:xfrm>
            <a:off x="50292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600200"/>
            <a:ext cx="3611880" cy="73152"/>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28800"/>
            <a:ext cx="3246120" cy="3749039"/>
          </a:xfrm>
          <a:prstGeom prst="rect">
            <a:avLst/>
          </a:prstGeom>
          <a:noFill/>
        </p:spPr>
        <p:txBody>
          <a:bodyPr wrap="square">
            <a:spAutoFit/>
          </a:bodyPr>
          <a:lstStyle/>
          <a:p>
            <a:pPr algn="l">
              <a:spcAft>
                <a:spcPts val="1200"/>
              </a:spcAft>
            </a:pPr>
            <a:r>
              <a:rPr sz="1300" b="1">
                <a:solidFill>
                  <a:srgbClr val="F87171"/>
                </a:solidFill>
                <a:latin typeface="Calibri"/>
              </a:rPr>
              <a:t>1  WRONG SELLABLE UNIT</a:t>
            </a:r>
          </a:p>
          <a:p>
            <a:pPr algn="l">
              <a:spcAft>
                <a:spcPts val="800"/>
              </a:spcAft>
            </a:pPr>
            <a:r>
              <a:rPr sz="1400" b="0">
                <a:solidFill>
                  <a:srgbClr val="E6EDF3"/>
                </a:solidFill>
                <a:latin typeface="Calibri"/>
              </a:rPr>
              <a:t>Sold as L1/L2/L3 staffing towers.</a:t>
            </a:r>
          </a:p>
          <a:p>
            <a:pPr algn="l">
              <a:spcAft>
                <a:spcPts val="800"/>
              </a:spcAft>
            </a:pPr>
            <a:r>
              <a:rPr sz="1300" b="0">
                <a:solidFill>
                  <a:srgbClr val="E6EDF3"/>
                </a:solidFill>
                <a:latin typeface="Calibri"/>
              </a:rPr>
              <a:t>Procurement benches rate-per-person — new logos stall.</a:t>
            </a:r>
          </a:p>
          <a:p>
            <a:pPr algn="l">
              <a:spcAft>
                <a:spcPts val="0"/>
              </a:spcAft>
            </a:pPr>
            <a:r>
              <a:rPr sz="1300" b="1">
                <a:solidFill>
                  <a:srgbClr val="D4A853"/>
                </a:solidFill>
                <a:latin typeface="Calibri"/>
              </a:rPr>
              <a:t>Hits topline: flat net sales · weak attach.</a:t>
            </a:r>
          </a:p>
        </p:txBody>
      </p:sp>
      <p:sp>
        <p:nvSpPr>
          <p:cNvPr id="12" name="Rounded Rectangle 11"/>
          <p:cNvSpPr/>
          <p:nvPr/>
        </p:nvSpPr>
        <p:spPr>
          <a:xfrm>
            <a:off x="429768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600200"/>
            <a:ext cx="3611880" cy="73152"/>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828800"/>
            <a:ext cx="3246120" cy="3749039"/>
          </a:xfrm>
          <a:prstGeom prst="rect">
            <a:avLst/>
          </a:prstGeom>
          <a:noFill/>
        </p:spPr>
        <p:txBody>
          <a:bodyPr wrap="square">
            <a:spAutoFit/>
          </a:bodyPr>
          <a:lstStyle/>
          <a:p>
            <a:pPr algn="l">
              <a:spcAft>
                <a:spcPts val="1200"/>
              </a:spcAft>
            </a:pPr>
            <a:r>
              <a:rPr sz="1300" b="1">
                <a:solidFill>
                  <a:srgbClr val="F87171"/>
                </a:solidFill>
                <a:latin typeface="Calibri"/>
              </a:rPr>
              <a:t>2  DISCOUNT WITHOUT TRADE</a:t>
            </a:r>
          </a:p>
          <a:p>
            <a:pPr algn="l">
              <a:spcAft>
                <a:spcPts val="800"/>
              </a:spcAft>
            </a:pPr>
            <a:r>
              <a:rPr sz="1400" b="0">
                <a:solidFill>
                  <a:srgbClr val="E6EDF3"/>
                </a:solidFill>
                <a:latin typeface="Calibri"/>
              </a:rPr>
              <a:t>Regions discount to hit quota — no floor, no scope trade.</a:t>
            </a:r>
          </a:p>
          <a:p>
            <a:pPr algn="l">
              <a:spcAft>
                <a:spcPts val="800"/>
              </a:spcAft>
            </a:pPr>
            <a:r>
              <a:rPr sz="1300" b="0">
                <a:solidFill>
                  <a:srgbClr val="E6EDF3"/>
                </a:solidFill>
                <a:latin typeface="Calibri"/>
              </a:rPr>
              <a:t>Should be: discount sustained revenue only when traded for more scope, term, or investment.</a:t>
            </a:r>
          </a:p>
          <a:p>
            <a:pPr algn="l">
              <a:spcAft>
                <a:spcPts val="0"/>
              </a:spcAft>
            </a:pPr>
            <a:r>
              <a:rPr sz="1300" b="1">
                <a:solidFill>
                  <a:srgbClr val="D4A853"/>
                </a:solidFill>
                <a:latin typeface="Calibri"/>
              </a:rPr>
              <a:t>Hits margin: GM 28% → 22–24% while NPS holds.</a:t>
            </a:r>
          </a:p>
        </p:txBody>
      </p:sp>
      <p:sp>
        <p:nvSpPr>
          <p:cNvPr id="15" name="Rounded Rectangle 14"/>
          <p:cNvSpPr/>
          <p:nvPr/>
        </p:nvSpPr>
        <p:spPr>
          <a:xfrm>
            <a:off x="809244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600200"/>
            <a:ext cx="3611880" cy="73152"/>
          </a:xfrm>
          <a:prstGeom prst="rect">
            <a:avLst/>
          </a:prstGeom>
          <a:solidFill>
            <a:srgbClr val="F871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1828800"/>
            <a:ext cx="3246120" cy="3749039"/>
          </a:xfrm>
          <a:prstGeom prst="rect">
            <a:avLst/>
          </a:prstGeom>
          <a:noFill/>
        </p:spPr>
        <p:txBody>
          <a:bodyPr wrap="square">
            <a:spAutoFit/>
          </a:bodyPr>
          <a:lstStyle/>
          <a:p>
            <a:pPr algn="l">
              <a:spcAft>
                <a:spcPts val="1200"/>
              </a:spcAft>
            </a:pPr>
            <a:r>
              <a:rPr sz="1300" b="1">
                <a:solidFill>
                  <a:srgbClr val="F87171"/>
                </a:solidFill>
                <a:latin typeface="Calibri"/>
              </a:rPr>
              <a:t>3  VALUE STORY GAP</a:t>
            </a:r>
          </a:p>
          <a:p>
            <a:pPr algn="l">
              <a:spcAft>
                <a:spcPts val="800"/>
              </a:spcAft>
            </a:pPr>
            <a:r>
              <a:rPr sz="1400" b="0">
                <a:solidFill>
                  <a:srgbClr val="E6EDF3"/>
                </a:solidFill>
                <a:latin typeface="Calibri"/>
              </a:rPr>
              <a:t>Buyers want outcomes and predictability.</a:t>
            </a:r>
          </a:p>
          <a:p>
            <a:pPr algn="l">
              <a:spcAft>
                <a:spcPts val="800"/>
              </a:spcAft>
            </a:pPr>
            <a:r>
              <a:rPr sz="1300" b="0">
                <a:solidFill>
                  <a:srgbClr val="E6EDF3"/>
                </a:solidFill>
                <a:latin typeface="Calibri"/>
              </a:rPr>
              <a:t>Sales still pitches headcount replacement.</a:t>
            </a:r>
          </a:p>
          <a:p>
            <a:pPr algn="l">
              <a:spcAft>
                <a:spcPts val="0"/>
              </a:spcAft>
            </a:pPr>
            <a:r>
              <a:rPr sz="1300" b="1">
                <a:solidFill>
                  <a:srgbClr val="D4A853"/>
                </a:solidFill>
                <a:latin typeface="Calibri"/>
              </a:rPr>
              <a:t>Hits both: cannot win new revenue or defend price.</a:t>
            </a:r>
          </a:p>
        </p:txBody>
      </p:sp>
      <p:sp>
        <p:nvSpPr>
          <p:cNvPr id="18" name="Rounded Rectangle 17"/>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20" name="Rounded Rectangle 19"/>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121408"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21408"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2 Findings</a:t>
            </a:r>
          </a:p>
        </p:txBody>
      </p:sp>
      <p:sp>
        <p:nvSpPr>
          <p:cNvPr id="23" name="Rounded Rectangle 22"/>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25" name="Rounded Rectangle 24"/>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27" name="Rounded Rectangle 26"/>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29" name="Rounded Rectangle 28"/>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31" name="Rounded Rectangle 30"/>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33" name="TextBox 32"/>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4" name="TextBox 33"/>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3 OF 7  ·  PORTFOLIO CALL WITH EXPLICIT TRADE-OFFS</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Decision framework → Reposition</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3FB950"/>
                </a:solidFill>
                <a:latin typeface="Calibri"/>
              </a:rPr>
              <a:t>STAGE 3  ·  DECISION FRAMEWORK</a:t>
            </a:r>
          </a:p>
        </p:txBody>
      </p:sp>
      <p:sp>
        <p:nvSpPr>
          <p:cNvPr id="8" name="TextBox 7"/>
          <p:cNvSpPr txBox="1"/>
          <p:nvPr/>
        </p:nvSpPr>
        <p:spPr>
          <a:xfrm>
            <a:off x="3246120" y="1097280"/>
            <a:ext cx="8412480" cy="320040"/>
          </a:xfrm>
          <a:prstGeom prst="rect">
            <a:avLst/>
          </a:prstGeom>
          <a:noFill/>
        </p:spPr>
        <p:txBody>
          <a:bodyPr wrap="none">
            <a:spAutoFit/>
          </a:bodyPr>
          <a:lstStyle/>
          <a:p>
            <a:pPr algn="l">
              <a:spcAft>
                <a:spcPts val="0"/>
              </a:spcAft>
            </a:pPr>
            <a:r>
              <a:rPr sz="1300" b="0">
                <a:solidFill>
                  <a:srgbClr val="8B9CB3"/>
                </a:solidFill>
                <a:latin typeface="Calibri"/>
              </a:rPr>
              <a:t>Change what Sales sells and how Deal Desk prices — tooling alone will not fix conversion or margin</a:t>
            </a:r>
          </a:p>
        </p:txBody>
      </p:sp>
      <p:sp>
        <p:nvSpPr>
          <p:cNvPr id="9" name="Rounded Rectangle 8"/>
          <p:cNvSpPr/>
          <p:nvPr/>
        </p:nvSpPr>
        <p:spPr>
          <a:xfrm>
            <a:off x="50292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28800"/>
            <a:ext cx="3246120" cy="3749039"/>
          </a:xfrm>
          <a:prstGeom prst="rect">
            <a:avLst/>
          </a:prstGeom>
          <a:noFill/>
        </p:spPr>
        <p:txBody>
          <a:bodyPr wrap="square">
            <a:spAutoFit/>
          </a:bodyPr>
          <a:lstStyle/>
          <a:p>
            <a:pPr algn="l">
              <a:spcAft>
                <a:spcPts val="1200"/>
              </a:spcAft>
            </a:pPr>
            <a:r>
              <a:rPr sz="1600" b="1">
                <a:solidFill>
                  <a:srgbClr val="8B9CB3"/>
                </a:solidFill>
                <a:latin typeface="Calibri"/>
              </a:rPr>
              <a:t>SUNSET</a:t>
            </a:r>
          </a:p>
          <a:p>
            <a:pPr algn="l">
              <a:spcAft>
                <a:spcPts val="700"/>
              </a:spcAft>
            </a:pPr>
            <a:r>
              <a:rPr sz="1300" b="0">
                <a:solidFill>
                  <a:srgbClr val="8B9CB3"/>
                </a:solidFill>
                <a:latin typeface="Calibri"/>
              </a:rPr>
              <a:t>•  Rejects delivery DNA and account footprint</a:t>
            </a:r>
          </a:p>
          <a:p>
            <a:pPr algn="l">
              <a:spcAft>
                <a:spcPts val="700"/>
              </a:spcAft>
            </a:pPr>
            <a:r>
              <a:rPr sz="1300" b="0">
                <a:solidFill>
                  <a:srgbClr val="8B9CB3"/>
                </a:solidFill>
                <a:latin typeface="Calibri"/>
              </a:rPr>
              <a:t>•  Competitors inherit the revenue base</a:t>
            </a:r>
          </a:p>
          <a:p>
            <a:pPr algn="l">
              <a:spcAft>
                <a:spcPts val="700"/>
              </a:spcAft>
            </a:pPr>
            <a:r>
              <a:rPr sz="1300" b="0">
                <a:solidFill>
                  <a:srgbClr val="8B9CB3"/>
                </a:solidFill>
                <a:latin typeface="Calibri"/>
              </a:rPr>
              <a:t>•  Only if no 18-month path to sales + margin AND no pull-through</a:t>
            </a:r>
          </a:p>
          <a:p>
            <a:pPr algn="l">
              <a:spcAft>
                <a:spcPts val="700"/>
              </a:spcAft>
            </a:pPr>
            <a:r>
              <a:rPr sz="1300" b="0">
                <a:solidFill>
                  <a:srgbClr val="8B9CB3"/>
                </a:solidFill>
                <a:latin typeface="Calibri"/>
              </a:rPr>
              <a:t>•  Not indicated here</a:t>
            </a:r>
          </a:p>
        </p:txBody>
      </p:sp>
      <p:sp>
        <p:nvSpPr>
          <p:cNvPr id="11" name="Rounded Rectangle 10"/>
          <p:cNvSpPr/>
          <p:nvPr/>
        </p:nvSpPr>
        <p:spPr>
          <a:xfrm>
            <a:off x="429768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828800"/>
            <a:ext cx="3246120" cy="3749039"/>
          </a:xfrm>
          <a:prstGeom prst="rect">
            <a:avLst/>
          </a:prstGeom>
          <a:noFill/>
        </p:spPr>
        <p:txBody>
          <a:bodyPr wrap="square">
            <a:spAutoFit/>
          </a:bodyPr>
          <a:lstStyle/>
          <a:p>
            <a:pPr algn="l">
              <a:spcAft>
                <a:spcPts val="1200"/>
              </a:spcAft>
            </a:pPr>
            <a:r>
              <a:rPr sz="1600" b="1">
                <a:solidFill>
                  <a:srgbClr val="8B9CB3"/>
                </a:solidFill>
                <a:latin typeface="Calibri"/>
              </a:rPr>
              <a:t>EVOLVE ONLY</a:t>
            </a:r>
          </a:p>
          <a:p>
            <a:pPr algn="l">
              <a:spcAft>
                <a:spcPts val="700"/>
              </a:spcAft>
            </a:pPr>
            <a:r>
              <a:rPr sz="1300" b="0">
                <a:solidFill>
                  <a:srgbClr val="8B9CB3"/>
                </a:solidFill>
                <a:latin typeface="Calibri"/>
              </a:rPr>
              <a:t>•  More tooling — same sellable unit</a:t>
            </a:r>
          </a:p>
          <a:p>
            <a:pPr algn="l">
              <a:spcAft>
                <a:spcPts val="700"/>
              </a:spcAft>
            </a:pPr>
            <a:r>
              <a:rPr sz="1300" b="0">
                <a:solidFill>
                  <a:srgbClr val="8B9CB3"/>
                </a:solidFill>
                <a:latin typeface="Calibri"/>
              </a:rPr>
              <a:t>•  Does not fix Sales narrative or new-logo conversion</a:t>
            </a:r>
          </a:p>
          <a:p>
            <a:pPr algn="l">
              <a:spcAft>
                <a:spcPts val="700"/>
              </a:spcAft>
            </a:pPr>
            <a:r>
              <a:rPr sz="1300" b="0">
                <a:solidFill>
                  <a:srgbClr val="8B9CB3"/>
                </a:solidFill>
                <a:latin typeface="Calibri"/>
              </a:rPr>
              <a:t>•  Does not stop discount-without-trade</a:t>
            </a:r>
          </a:p>
          <a:p>
            <a:pPr algn="l">
              <a:spcAft>
                <a:spcPts val="700"/>
              </a:spcAft>
            </a:pPr>
            <a:r>
              <a:rPr sz="1300" b="0">
                <a:solidFill>
                  <a:srgbClr val="8B9CB3"/>
                </a:solidFill>
                <a:latin typeface="Calibri"/>
              </a:rPr>
              <a:t>•  Necessary later; insufficient alone</a:t>
            </a:r>
          </a:p>
        </p:txBody>
      </p:sp>
      <p:sp>
        <p:nvSpPr>
          <p:cNvPr id="13" name="Rounded Rectangle 12"/>
          <p:cNvSpPr/>
          <p:nvPr/>
        </p:nvSpPr>
        <p:spPr>
          <a:xfrm>
            <a:off x="8092440" y="1600200"/>
            <a:ext cx="3611880" cy="41605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92440" y="1600200"/>
            <a:ext cx="3611880" cy="4160520"/>
          </a:xfrm>
          <a:prstGeom prst="roundRect">
            <a:avLst>
              <a:gd name="adj" fmla="val 8000"/>
            </a:avLst>
          </a:prstGeom>
          <a:noFill/>
          <a:ln w="31750">
            <a:solidFill>
              <a:srgbClr val="3FB9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1828800"/>
            <a:ext cx="3246120" cy="3749039"/>
          </a:xfrm>
          <a:prstGeom prst="rect">
            <a:avLst/>
          </a:prstGeom>
          <a:noFill/>
        </p:spPr>
        <p:txBody>
          <a:bodyPr wrap="square">
            <a:spAutoFit/>
          </a:bodyPr>
          <a:lstStyle/>
          <a:p>
            <a:pPr algn="l">
              <a:spcAft>
                <a:spcPts val="1200"/>
              </a:spcAft>
            </a:pPr>
            <a:r>
              <a:rPr sz="1600" b="1">
                <a:solidFill>
                  <a:srgbClr val="3FB950"/>
                </a:solidFill>
                <a:latin typeface="Calibri"/>
              </a:rPr>
              <a:t>REPOSITION  ✓</a:t>
            </a:r>
          </a:p>
          <a:p>
            <a:pPr algn="l">
              <a:spcAft>
                <a:spcPts val="700"/>
              </a:spcAft>
            </a:pPr>
            <a:r>
              <a:rPr sz="1300" b="0">
                <a:solidFill>
                  <a:srgbClr val="E6EDF3"/>
                </a:solidFill>
                <a:latin typeface="Calibri"/>
              </a:rPr>
              <a:t>•  Outcome-tiered Application Operations</a:t>
            </a:r>
          </a:p>
          <a:p>
            <a:pPr algn="l">
              <a:spcAft>
                <a:spcPts val="700"/>
              </a:spcAft>
            </a:pPr>
            <a:r>
              <a:rPr sz="1300" b="0">
                <a:solidFill>
                  <a:srgbClr val="E6EDF3"/>
                </a:solidFill>
                <a:latin typeface="Calibri"/>
              </a:rPr>
              <a:t>•  Stabilize → Optimize → Autonomize</a:t>
            </a:r>
          </a:p>
          <a:p>
            <a:pPr algn="l">
              <a:spcAft>
                <a:spcPts val="700"/>
              </a:spcAft>
            </a:pPr>
            <a:r>
              <a:rPr sz="1300" b="0">
                <a:solidFill>
                  <a:srgbClr val="E6EDF3"/>
                </a:solidFill>
                <a:latin typeface="Calibri"/>
              </a:rPr>
              <a:t>•  New value prop + pricing + Deal Desk rules</a:t>
            </a:r>
          </a:p>
          <a:p>
            <a:pPr algn="l">
              <a:spcAft>
                <a:spcPts val="700"/>
              </a:spcAft>
            </a:pPr>
            <a:r>
              <a:rPr sz="1300" b="0">
                <a:solidFill>
                  <a:srgbClr val="E6EDF3"/>
                </a:solidFill>
                <a:latin typeface="Calibri"/>
              </a:rPr>
              <a:t>•  Trade-off: near-term deal size may dip; attach + renewals + cleaner GM recover</a:t>
            </a:r>
          </a:p>
        </p:txBody>
      </p:sp>
      <p:sp>
        <p:nvSpPr>
          <p:cNvPr id="16" name="Rounded Rectangle 15"/>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18" name="Rounded Rectangle 17"/>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20" name="Rounded Rectangle 19"/>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739896"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39896"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3 Decide</a:t>
            </a:r>
          </a:p>
        </p:txBody>
      </p:sp>
      <p:sp>
        <p:nvSpPr>
          <p:cNvPr id="23" name="Rounded Rectangle 22"/>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25" name="Rounded Rectangle 24"/>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27" name="Rounded Rectangle 26"/>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29" name="Rounded Rectangle 28"/>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31" name="TextBox 30"/>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2" name="TextBox 31"/>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4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4 OF 7  ·  REVISED PACKAGING, PRICING &amp; VALUE PROPOSITION</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What Sales sells — tiers, outcomes, clearer price</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D4A853"/>
                </a:solidFill>
                <a:latin typeface="Calibri"/>
              </a:rPr>
              <a:t>STAGE 4  ·  PACKAGE &amp; PRICE</a:t>
            </a:r>
          </a:p>
        </p:txBody>
      </p:sp>
      <p:sp>
        <p:nvSpPr>
          <p:cNvPr id="8" name="Rounded Rectangle 7"/>
          <p:cNvSpPr/>
          <p:nvPr/>
        </p:nvSpPr>
        <p:spPr>
          <a:xfrm>
            <a:off x="502920" y="1554480"/>
            <a:ext cx="3611880" cy="30632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554480"/>
            <a:ext cx="3611880" cy="73152"/>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783080"/>
            <a:ext cx="3246120" cy="2697480"/>
          </a:xfrm>
          <a:prstGeom prst="rect">
            <a:avLst/>
          </a:prstGeom>
          <a:noFill/>
        </p:spPr>
        <p:txBody>
          <a:bodyPr wrap="square">
            <a:spAutoFit/>
          </a:bodyPr>
          <a:lstStyle/>
          <a:p>
            <a:pPr algn="l">
              <a:spcAft>
                <a:spcPts val="300"/>
              </a:spcAft>
            </a:pPr>
            <a:r>
              <a:rPr sz="1600" b="1">
                <a:solidFill>
                  <a:srgbClr val="D4A853"/>
                </a:solidFill>
                <a:latin typeface="Calibri"/>
              </a:rPr>
              <a:t>STABILIZE</a:t>
            </a:r>
          </a:p>
          <a:p>
            <a:pPr algn="l">
              <a:spcAft>
                <a:spcPts val="800"/>
              </a:spcAft>
            </a:pPr>
            <a:r>
              <a:rPr sz="1200" b="1">
                <a:solidFill>
                  <a:srgbClr val="D4A853"/>
                </a:solidFill>
                <a:latin typeface="Calibri"/>
              </a:rPr>
              <a:t>Land — restore control</a:t>
            </a:r>
          </a:p>
          <a:p>
            <a:pPr algn="l">
              <a:spcAft>
                <a:spcPts val="400"/>
              </a:spcAft>
            </a:pPr>
            <a:r>
              <a:rPr sz="1200" b="0">
                <a:solidFill>
                  <a:srgbClr val="E6EDF3"/>
                </a:solidFill>
                <a:latin typeface="Calibri"/>
              </a:rPr>
              <a:t>•  Backlog · service-level baseline</a:t>
            </a:r>
          </a:p>
          <a:p>
            <a:pPr algn="l">
              <a:spcAft>
                <a:spcPts val="400"/>
              </a:spcAft>
            </a:pPr>
            <a:r>
              <a:rPr sz="1200" b="0">
                <a:solidFill>
                  <a:srgbClr val="E6EDF3"/>
                </a:solidFill>
                <a:latin typeface="Calibri"/>
              </a:rPr>
              <a:t>•  Single accountability</a:t>
            </a:r>
          </a:p>
          <a:p>
            <a:pPr algn="l">
              <a:spcAft>
                <a:spcPts val="400"/>
              </a:spcAft>
            </a:pPr>
            <a:r>
              <a:rPr sz="1200" b="0">
                <a:solidFill>
                  <a:srgbClr val="E6EDF3"/>
                </a:solidFill>
                <a:latin typeface="Calibri"/>
              </a:rPr>
              <a:t>•  Platform fee + criticality class</a:t>
            </a:r>
          </a:p>
          <a:p>
            <a:pPr algn="l">
              <a:spcAft>
                <a:spcPts val="400"/>
              </a:spcAft>
            </a:pPr>
            <a:r>
              <a:rPr sz="1200" b="0">
                <a:solidFill>
                  <a:srgbClr val="E6EDF3"/>
                </a:solidFill>
                <a:latin typeface="Calibri"/>
              </a:rPr>
              <a:t>•  Floor GM ≥ 22% · entry for new logos</a:t>
            </a:r>
          </a:p>
        </p:txBody>
      </p:sp>
      <p:sp>
        <p:nvSpPr>
          <p:cNvPr id="11" name="Rounded Rectangle 10"/>
          <p:cNvSpPr/>
          <p:nvPr/>
        </p:nvSpPr>
        <p:spPr>
          <a:xfrm>
            <a:off x="4297680" y="1554480"/>
            <a:ext cx="3611880" cy="30632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54480"/>
            <a:ext cx="3611880" cy="73152"/>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783080"/>
            <a:ext cx="3246120" cy="2697480"/>
          </a:xfrm>
          <a:prstGeom prst="rect">
            <a:avLst/>
          </a:prstGeom>
          <a:noFill/>
        </p:spPr>
        <p:txBody>
          <a:bodyPr wrap="square">
            <a:spAutoFit/>
          </a:bodyPr>
          <a:lstStyle/>
          <a:p>
            <a:pPr algn="l">
              <a:spcAft>
                <a:spcPts val="300"/>
              </a:spcAft>
            </a:pPr>
            <a:r>
              <a:rPr sz="1600" b="1">
                <a:solidFill>
                  <a:srgbClr val="58A6FF"/>
                </a:solidFill>
                <a:latin typeface="Calibri"/>
              </a:rPr>
              <a:t>OPTIMIZE</a:t>
            </a:r>
          </a:p>
          <a:p>
            <a:pPr algn="l">
              <a:spcAft>
                <a:spcPts val="800"/>
              </a:spcAft>
            </a:pPr>
            <a:r>
              <a:rPr sz="1200" b="1">
                <a:solidFill>
                  <a:srgbClr val="D4A853"/>
                </a:solidFill>
                <a:latin typeface="Calibri"/>
              </a:rPr>
              <a:t>Expand — prove efficiency</a:t>
            </a:r>
          </a:p>
          <a:p>
            <a:pPr algn="l">
              <a:spcAft>
                <a:spcPts val="400"/>
              </a:spcAft>
            </a:pPr>
            <a:r>
              <a:rPr sz="1200" b="0">
                <a:solidFill>
                  <a:srgbClr val="E6EDF3"/>
                </a:solidFill>
                <a:latin typeface="Calibri"/>
              </a:rPr>
              <a:t>•  + Monitoring / GenAI SOP packs</a:t>
            </a:r>
          </a:p>
          <a:p>
            <a:pPr algn="l">
              <a:spcAft>
                <a:spcPts val="400"/>
              </a:spcAft>
            </a:pPr>
            <a:r>
              <a:rPr sz="1200" b="0">
                <a:solidFill>
                  <a:srgbClr val="E6EDF3"/>
                </a:solidFill>
                <a:latin typeface="Calibri"/>
              </a:rPr>
              <a:t>•  Subscription / outcome-band pricing</a:t>
            </a:r>
          </a:p>
          <a:p>
            <a:pPr algn="l">
              <a:spcAft>
                <a:spcPts val="400"/>
              </a:spcAft>
            </a:pPr>
            <a:r>
              <a:rPr sz="1200" b="0">
                <a:solidFill>
                  <a:srgbClr val="E6EDF3"/>
                </a:solidFill>
                <a:latin typeface="Calibri"/>
              </a:rPr>
              <a:t>•  Optional gain-share on savings</a:t>
            </a:r>
          </a:p>
          <a:p>
            <a:pPr algn="l">
              <a:spcAft>
                <a:spcPts val="400"/>
              </a:spcAft>
            </a:pPr>
            <a:r>
              <a:rPr sz="1200" b="0">
                <a:solidFill>
                  <a:srgbClr val="E6EDF3"/>
                </a:solidFill>
                <a:latin typeface="Calibri"/>
              </a:rPr>
              <a:t>•  Floor GM ≥ 26% · attach engine</a:t>
            </a:r>
          </a:p>
        </p:txBody>
      </p:sp>
      <p:sp>
        <p:nvSpPr>
          <p:cNvPr id="14" name="Rounded Rectangle 13"/>
          <p:cNvSpPr/>
          <p:nvPr/>
        </p:nvSpPr>
        <p:spPr>
          <a:xfrm>
            <a:off x="8092440" y="1554480"/>
            <a:ext cx="3611880" cy="30632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2440" y="1554480"/>
            <a:ext cx="3611880" cy="73152"/>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783080"/>
            <a:ext cx="3246120" cy="2697480"/>
          </a:xfrm>
          <a:prstGeom prst="rect">
            <a:avLst/>
          </a:prstGeom>
          <a:noFill/>
        </p:spPr>
        <p:txBody>
          <a:bodyPr wrap="square">
            <a:spAutoFit/>
          </a:bodyPr>
          <a:lstStyle/>
          <a:p>
            <a:pPr algn="l">
              <a:spcAft>
                <a:spcPts val="300"/>
              </a:spcAft>
            </a:pPr>
            <a:r>
              <a:rPr sz="1600" b="1">
                <a:solidFill>
                  <a:srgbClr val="3FB950"/>
                </a:solidFill>
                <a:latin typeface="Calibri"/>
              </a:rPr>
              <a:t>AUTONOMIZE</a:t>
            </a:r>
          </a:p>
          <a:p>
            <a:pPr algn="l">
              <a:spcAft>
                <a:spcPts val="800"/>
              </a:spcAft>
            </a:pPr>
            <a:r>
              <a:rPr sz="1200" b="1">
                <a:solidFill>
                  <a:srgbClr val="D4A853"/>
                </a:solidFill>
                <a:latin typeface="Calibri"/>
              </a:rPr>
              <a:t>Deepen — closed-loop uplift</a:t>
            </a:r>
          </a:p>
          <a:p>
            <a:pPr algn="l">
              <a:spcAft>
                <a:spcPts val="400"/>
              </a:spcAft>
            </a:pPr>
            <a:r>
              <a:rPr sz="1200" b="0">
                <a:solidFill>
                  <a:srgbClr val="E6EDF3"/>
                </a:solidFill>
                <a:latin typeface="Calibri"/>
              </a:rPr>
              <a:t>•  + Continuous improvement / self-heal</a:t>
            </a:r>
          </a:p>
          <a:p>
            <a:pPr algn="l">
              <a:spcAft>
                <a:spcPts val="400"/>
              </a:spcAft>
            </a:pPr>
            <a:r>
              <a:rPr sz="1200" b="0">
                <a:solidFill>
                  <a:srgbClr val="E6EDF3"/>
                </a:solidFill>
                <a:latin typeface="Calibri"/>
              </a:rPr>
              <a:t>•  Value-/subscription + milestones</a:t>
            </a:r>
          </a:p>
          <a:p>
            <a:pPr algn="l">
              <a:spcAft>
                <a:spcPts val="400"/>
              </a:spcAft>
            </a:pPr>
            <a:r>
              <a:rPr sz="1200" b="0">
                <a:solidFill>
                  <a:srgbClr val="E6EDF3"/>
                </a:solidFill>
                <a:latin typeface="Calibri"/>
              </a:rPr>
              <a:t>•  Executive scorecard (Finance OK)</a:t>
            </a:r>
          </a:p>
          <a:p>
            <a:pPr algn="l">
              <a:spcAft>
                <a:spcPts val="400"/>
              </a:spcAft>
            </a:pPr>
            <a:r>
              <a:rPr sz="1200" b="0">
                <a:solidFill>
                  <a:srgbClr val="E6EDF3"/>
                </a:solidFill>
                <a:latin typeface="Calibri"/>
              </a:rPr>
              <a:t>•  Floor GM ≥ 28% · premium renewals</a:t>
            </a:r>
          </a:p>
        </p:txBody>
      </p:sp>
      <p:sp>
        <p:nvSpPr>
          <p:cNvPr id="17" name="Rounded Rectangle 16"/>
          <p:cNvSpPr/>
          <p:nvPr/>
        </p:nvSpPr>
        <p:spPr>
          <a:xfrm>
            <a:off x="502920" y="4754880"/>
            <a:ext cx="11155680" cy="11887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864608"/>
            <a:ext cx="10789920" cy="1005840"/>
          </a:xfrm>
          <a:prstGeom prst="rect">
            <a:avLst/>
          </a:prstGeom>
          <a:noFill/>
        </p:spPr>
        <p:txBody>
          <a:bodyPr wrap="square">
            <a:spAutoFit/>
          </a:bodyPr>
          <a:lstStyle/>
          <a:p>
            <a:pPr algn="l">
              <a:spcAft>
                <a:spcPts val="400"/>
              </a:spcAft>
            </a:pPr>
            <a:r>
              <a:rPr sz="1100" b="1">
                <a:solidFill>
                  <a:srgbClr val="58A6FF"/>
                </a:solidFill>
                <a:latin typeface="Calibri"/>
              </a:rPr>
              <a:t>UPDATED VALUE PROPOSITION  ·  ONE LINE FOR SALES</a:t>
            </a:r>
          </a:p>
          <a:p>
            <a:pPr algn="l">
              <a:spcAft>
                <a:spcPts val="0"/>
              </a:spcAft>
            </a:pPr>
            <a:r>
              <a:rPr sz="1300" b="0">
                <a:solidFill>
                  <a:srgbClr val="E6EDF3"/>
                </a:solidFill>
                <a:latin typeface="Calibri"/>
              </a:rPr>
              <a:t>“Ericsson Application Operations — outcome-tiered managed applications that restore control, improve total cost of ownership where contracted, and give Sales a globally consistent story with value-/subscription-ready pricing and Deal Desk discipline that grows revenue without giving margin away.”</a:t>
            </a:r>
          </a:p>
        </p:txBody>
      </p:sp>
      <p:sp>
        <p:nvSpPr>
          <p:cNvPr id="19" name="Rounded Rectangle 18"/>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21" name="Rounded Rectangle 20"/>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23" name="Rounded Rectangle 22"/>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25" name="Rounded Rectangle 24"/>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58384"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358384"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4 Package</a:t>
            </a:r>
          </a:p>
        </p:txBody>
      </p:sp>
      <p:sp>
        <p:nvSpPr>
          <p:cNvPr id="28" name="Rounded Rectangle 27"/>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30" name="Rounded Rectangle 29"/>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32" name="Rounded Rectangle 31"/>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34" name="TextBox 33"/>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5" name="TextBox 34"/>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5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5 OF 7  ·  COMMERCIAL GUARDRAILS + INVESTMENT ROI SEQUENCE</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Deal Desk rules + what we fund (and stop)</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A37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A371F7"/>
                </a:solidFill>
                <a:latin typeface="Calibri"/>
              </a:rPr>
              <a:t>STAGE 5  ·  GUARDRAILS &amp; INVEST</a:t>
            </a:r>
          </a:p>
        </p:txBody>
      </p:sp>
      <p:sp>
        <p:nvSpPr>
          <p:cNvPr id="8" name="Rounded Rectangle 7"/>
          <p:cNvSpPr/>
          <p:nvPr/>
        </p:nvSpPr>
        <p:spPr>
          <a:xfrm>
            <a:off x="502920" y="1554480"/>
            <a:ext cx="5760720" cy="42062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5394960" cy="3931920"/>
          </a:xfrm>
          <a:prstGeom prst="rect">
            <a:avLst/>
          </a:prstGeom>
          <a:noFill/>
        </p:spPr>
        <p:txBody>
          <a:bodyPr wrap="square">
            <a:spAutoFit/>
          </a:bodyPr>
          <a:lstStyle/>
          <a:p>
            <a:pPr algn="l">
              <a:spcAft>
                <a:spcPts val="800"/>
              </a:spcAft>
            </a:pPr>
            <a:r>
              <a:rPr sz="1200" b="1">
                <a:solidFill>
                  <a:srgbClr val="D4A853"/>
                </a:solidFill>
                <a:latin typeface="Calibri"/>
              </a:rPr>
              <a:t>COMMERCIAL GUARDRAILS  ·  DEAL DESK</a:t>
            </a:r>
          </a:p>
          <a:p>
            <a:pPr algn="l">
              <a:spcAft>
                <a:spcPts val="100"/>
              </a:spcAft>
            </a:pPr>
            <a:r>
              <a:rPr sz="1100" b="1">
                <a:solidFill>
                  <a:srgbClr val="58A6FF"/>
                </a:solidFill>
                <a:latin typeface="Calibri"/>
              </a:rPr>
              <a:t>Floor gross margin</a:t>
            </a:r>
          </a:p>
          <a:p>
            <a:pPr algn="l">
              <a:spcAft>
                <a:spcPts val="500"/>
              </a:spcAft>
            </a:pPr>
            <a:r>
              <a:rPr sz="1100" b="0">
                <a:solidFill>
                  <a:srgbClr val="E6EDF3"/>
                </a:solidFill>
                <a:latin typeface="Calibri"/>
              </a:rPr>
              <a:t>Stabilize ≥22% · Optimize ≥26% · Autonomize ≥28%</a:t>
            </a:r>
          </a:p>
          <a:p>
            <a:pPr algn="l">
              <a:spcAft>
                <a:spcPts val="100"/>
              </a:spcAft>
            </a:pPr>
            <a:r>
              <a:rPr sz="1100" b="1">
                <a:solidFill>
                  <a:srgbClr val="58A6FF"/>
                </a:solidFill>
                <a:latin typeface="Calibri"/>
              </a:rPr>
              <a:t>Discount = trade (not price cut)</a:t>
            </a:r>
          </a:p>
          <a:p>
            <a:pPr algn="l">
              <a:spcAft>
                <a:spcPts val="500"/>
              </a:spcAft>
            </a:pPr>
            <a:r>
              <a:rPr sz="1100" b="0">
                <a:solidFill>
                  <a:srgbClr val="E6EDF3"/>
                </a:solidFill>
                <a:latin typeface="Calibri"/>
              </a:rPr>
              <a:t>≤12% only if traded for scope / term / attach — never free volume</a:t>
            </a:r>
          </a:p>
          <a:p>
            <a:pPr algn="l">
              <a:spcAft>
                <a:spcPts val="100"/>
              </a:spcAft>
            </a:pPr>
            <a:r>
              <a:rPr sz="1100" b="1">
                <a:solidFill>
                  <a:srgbClr val="58A6FF"/>
                </a:solidFill>
                <a:latin typeface="Calibri"/>
              </a:rPr>
              <a:t>Sustain topline rule</a:t>
            </a:r>
          </a:p>
          <a:p>
            <a:pPr algn="l">
              <a:spcAft>
                <a:spcPts val="500"/>
              </a:spcAft>
            </a:pPr>
            <a:r>
              <a:rPr sz="1100" b="0">
                <a:solidFill>
                  <a:srgbClr val="E6EDF3"/>
                </a:solidFill>
                <a:latin typeface="Calibri"/>
              </a:rPr>
              <a:t>Discount to win/keep revenue must raise contracted value</a:t>
            </a:r>
          </a:p>
          <a:p>
            <a:pPr algn="l">
              <a:spcAft>
                <a:spcPts val="100"/>
              </a:spcAft>
            </a:pPr>
            <a:r>
              <a:rPr sz="1100" b="1">
                <a:solidFill>
                  <a:srgbClr val="58A6FF"/>
                </a:solidFill>
                <a:latin typeface="Calibri"/>
              </a:rPr>
              <a:t>AI Deal Desk assist</a:t>
            </a:r>
          </a:p>
          <a:p>
            <a:pPr algn="l">
              <a:spcAft>
                <a:spcPts val="500"/>
              </a:spcAft>
            </a:pPr>
            <a:r>
              <a:rPr sz="1100" b="0">
                <a:solidFill>
                  <a:srgbClr val="E6EDF3"/>
                </a:solidFill>
                <a:latin typeface="Calibri"/>
              </a:rPr>
              <a:t>Comps + override flags · human approval mandatory</a:t>
            </a:r>
          </a:p>
          <a:p>
            <a:pPr algn="l">
              <a:spcAft>
                <a:spcPts val="100"/>
              </a:spcAft>
            </a:pPr>
            <a:r>
              <a:rPr sz="1100" b="1">
                <a:solidFill>
                  <a:srgbClr val="58A6FF"/>
                </a:solidFill>
                <a:latin typeface="Calibri"/>
              </a:rPr>
              <a:t>Transition pricing</a:t>
            </a:r>
          </a:p>
          <a:p>
            <a:pPr algn="l">
              <a:spcAft>
                <a:spcPts val="500"/>
              </a:spcAft>
            </a:pPr>
            <a:r>
              <a:rPr sz="1100" b="0">
                <a:solidFill>
                  <a:srgbClr val="E6EDF3"/>
                </a:solidFill>
                <a:latin typeface="Calibri"/>
              </a:rPr>
              <a:t>Knowledge-transfer mandatory · min 8% Year-1 contract value</a:t>
            </a:r>
          </a:p>
          <a:p>
            <a:pPr algn="l">
              <a:spcAft>
                <a:spcPts val="100"/>
              </a:spcAft>
            </a:pPr>
            <a:r>
              <a:rPr sz="1100" b="1">
                <a:solidFill>
                  <a:srgbClr val="58A6FF"/>
                </a:solidFill>
                <a:latin typeface="Calibri"/>
              </a:rPr>
              <a:t>Scope / regional</a:t>
            </a:r>
          </a:p>
          <a:p>
            <a:pPr algn="l">
              <a:spcAft>
                <a:spcPts val="500"/>
              </a:spcAft>
            </a:pPr>
            <a:r>
              <a:rPr sz="1100" b="0">
                <a:solidFill>
                  <a:srgbClr val="E6EDF3"/>
                </a:solidFill>
                <a:latin typeface="Calibri"/>
              </a:rPr>
              <a:t>Unpaid work ≤2% ACV · like-for-like within ±15% rate card</a:t>
            </a:r>
          </a:p>
          <a:p>
            <a:pPr algn="l">
              <a:spcAft>
                <a:spcPts val="100"/>
              </a:spcAft>
            </a:pPr>
            <a:r>
              <a:rPr sz="1100" b="1">
                <a:solidFill>
                  <a:srgbClr val="58A6FF"/>
                </a:solidFill>
                <a:latin typeface="Calibri"/>
              </a:rPr>
              <a:t>Credits / penalties</a:t>
            </a:r>
          </a:p>
          <a:p>
            <a:pPr algn="l">
              <a:spcAft>
                <a:spcPts val="500"/>
              </a:spcAft>
            </a:pPr>
            <a:r>
              <a:rPr sz="1100" b="0">
                <a:solidFill>
                  <a:srgbClr val="E6EDF3"/>
                </a:solidFill>
                <a:latin typeface="Calibri"/>
              </a:rPr>
              <a:t>Soft-ramp M1–6 · Finance revenue-recognition OK</a:t>
            </a:r>
          </a:p>
          <a:p>
            <a:pPr algn="l">
              <a:spcAft>
                <a:spcPts val="100"/>
              </a:spcAft>
            </a:pPr>
            <a:r>
              <a:rPr sz="1100" b="1">
                <a:solidFill>
                  <a:srgbClr val="58A6FF"/>
                </a:solidFill>
                <a:latin typeface="Calibri"/>
              </a:rPr>
              <a:t>Transition pricing</a:t>
            </a:r>
          </a:p>
          <a:p>
            <a:pPr algn="l">
              <a:spcAft>
                <a:spcPts val="500"/>
              </a:spcAft>
            </a:pPr>
            <a:r>
              <a:rPr sz="1100" b="0">
                <a:solidFill>
                  <a:srgbClr val="E6EDF3"/>
                </a:solidFill>
                <a:latin typeface="Calibri"/>
              </a:rPr>
              <a:t>Knowledge-transfer mandatory · min 8% Year-1 contract value</a:t>
            </a:r>
          </a:p>
          <a:p>
            <a:pPr algn="l">
              <a:spcAft>
                <a:spcPts val="100"/>
              </a:spcAft>
            </a:pPr>
            <a:r>
              <a:rPr sz="1100" b="1">
                <a:solidFill>
                  <a:srgbClr val="58A6FF"/>
                </a:solidFill>
                <a:latin typeface="Calibri"/>
              </a:rPr>
              <a:t>Scope change</a:t>
            </a:r>
          </a:p>
          <a:p>
            <a:pPr algn="l">
              <a:spcAft>
                <a:spcPts val="500"/>
              </a:spcAft>
            </a:pPr>
            <a:r>
              <a:rPr sz="1100" b="0">
                <a:solidFill>
                  <a:srgbClr val="E6EDF3"/>
                </a:solidFill>
                <a:latin typeface="Calibri"/>
              </a:rPr>
              <a:t>Unpaid work cap 2% of annual contract value</a:t>
            </a:r>
          </a:p>
          <a:p>
            <a:pPr algn="l">
              <a:spcAft>
                <a:spcPts val="100"/>
              </a:spcAft>
            </a:pPr>
            <a:r>
              <a:rPr sz="1100" b="1">
                <a:solidFill>
                  <a:srgbClr val="58A6FF"/>
                </a:solidFill>
                <a:latin typeface="Calibri"/>
              </a:rPr>
              <a:t>Regional variance</a:t>
            </a:r>
          </a:p>
          <a:p>
            <a:pPr algn="l">
              <a:spcAft>
                <a:spcPts val="500"/>
              </a:spcAft>
            </a:pPr>
            <a:r>
              <a:rPr sz="1100" b="0">
                <a:solidFill>
                  <a:srgbClr val="E6EDF3"/>
                </a:solidFill>
                <a:latin typeface="Calibri"/>
              </a:rPr>
              <a:t>Like-for-like within ±15% of global rate card</a:t>
            </a:r>
          </a:p>
          <a:p>
            <a:pPr algn="l">
              <a:spcAft>
                <a:spcPts val="100"/>
              </a:spcAft>
            </a:pPr>
            <a:r>
              <a:rPr sz="1100" b="1">
                <a:solidFill>
                  <a:srgbClr val="58A6FF"/>
                </a:solidFill>
                <a:latin typeface="Calibri"/>
              </a:rPr>
              <a:t>Credits / penalties</a:t>
            </a:r>
          </a:p>
          <a:p>
            <a:pPr algn="l">
              <a:spcAft>
                <a:spcPts val="500"/>
              </a:spcAft>
            </a:pPr>
            <a:r>
              <a:rPr sz="1100" b="0">
                <a:solidFill>
                  <a:srgbClr val="E6EDF3"/>
                </a:solidFill>
                <a:latin typeface="Calibri"/>
              </a:rPr>
              <a:t>Soft-ramp M1–6 · Finance revenue-recognition OK</a:t>
            </a:r>
          </a:p>
        </p:txBody>
      </p:sp>
      <p:sp>
        <p:nvSpPr>
          <p:cNvPr id="10" name="Rounded Rectangle 9"/>
          <p:cNvSpPr/>
          <p:nvPr/>
        </p:nvSpPr>
        <p:spPr>
          <a:xfrm>
            <a:off x="6446520" y="1554480"/>
            <a:ext cx="5212080" cy="233172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691640"/>
            <a:ext cx="4846320" cy="2057400"/>
          </a:xfrm>
          <a:prstGeom prst="rect">
            <a:avLst/>
          </a:prstGeom>
          <a:noFill/>
        </p:spPr>
        <p:txBody>
          <a:bodyPr wrap="square">
            <a:spAutoFit/>
          </a:bodyPr>
          <a:lstStyle/>
          <a:p>
            <a:pPr algn="l">
              <a:spcAft>
                <a:spcPts val="600"/>
              </a:spcAft>
            </a:pPr>
            <a:r>
              <a:rPr sz="1200" b="1">
                <a:solidFill>
                  <a:srgbClr val="3FB950"/>
                </a:solidFill>
                <a:latin typeface="Calibri"/>
              </a:rPr>
              <a:t>FUND FIRST  ·  MAX ROI</a:t>
            </a:r>
          </a:p>
          <a:p>
            <a:pPr algn="l">
              <a:spcAft>
                <a:spcPts val="500"/>
              </a:spcAft>
            </a:pPr>
            <a:r>
              <a:rPr sz="1200" b="0">
                <a:solidFill>
                  <a:srgbClr val="E6EDF3"/>
                </a:solidFill>
                <a:latin typeface="Calibri"/>
              </a:rPr>
              <a:t>▸  Q1: Rate card · tier kit · Deal Desk playbook</a:t>
            </a:r>
          </a:p>
          <a:p>
            <a:pPr algn="l">
              <a:spcAft>
                <a:spcPts val="500"/>
              </a:spcAft>
            </a:pPr>
            <a:r>
              <a:rPr sz="1200" b="0">
                <a:solidFill>
                  <a:srgbClr val="E6EDF3"/>
                </a:solidFill>
                <a:latin typeface="Calibri"/>
              </a:rPr>
              <a:t>▸  Q2: Service-level catalogue · 2 regional pilots</a:t>
            </a:r>
          </a:p>
          <a:p>
            <a:pPr algn="l">
              <a:spcAft>
                <a:spcPts val="500"/>
              </a:spcAft>
            </a:pPr>
            <a:r>
              <a:rPr sz="1200" b="0">
                <a:solidFill>
                  <a:srgbClr val="E6EDF3"/>
                </a:solidFill>
                <a:latin typeface="Calibri"/>
              </a:rPr>
              <a:t>▸  Q3–4: Attach packs · renewal step-up motions</a:t>
            </a:r>
          </a:p>
          <a:p>
            <a:pPr algn="l">
              <a:spcAft>
                <a:spcPts val="500"/>
              </a:spcAft>
            </a:pPr>
            <a:r>
              <a:rPr sz="1200" b="0">
                <a:solidFill>
                  <a:srgbClr val="E6EDF3"/>
                </a:solidFill>
                <a:latin typeface="Calibri"/>
              </a:rPr>
              <a:t>▸  Year 2: Retire headcount-only contracts</a:t>
            </a:r>
          </a:p>
        </p:txBody>
      </p:sp>
      <p:sp>
        <p:nvSpPr>
          <p:cNvPr id="12" name="Rounded Rectangle 11"/>
          <p:cNvSpPr/>
          <p:nvPr/>
        </p:nvSpPr>
        <p:spPr>
          <a:xfrm>
            <a:off x="6446520" y="4023360"/>
            <a:ext cx="5212080" cy="173736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4160520"/>
            <a:ext cx="4846320" cy="1463040"/>
          </a:xfrm>
          <a:prstGeom prst="rect">
            <a:avLst/>
          </a:prstGeom>
          <a:noFill/>
        </p:spPr>
        <p:txBody>
          <a:bodyPr wrap="square">
            <a:spAutoFit/>
          </a:bodyPr>
          <a:lstStyle/>
          <a:p>
            <a:pPr algn="l">
              <a:spcAft>
                <a:spcPts val="600"/>
              </a:spcAft>
            </a:pPr>
            <a:r>
              <a:rPr sz="1200" b="1">
                <a:solidFill>
                  <a:srgbClr val="F87171"/>
                </a:solidFill>
                <a:latin typeface="Calibri"/>
              </a:rPr>
              <a:t>DEPRIORITIZE / STOP</a:t>
            </a:r>
          </a:p>
          <a:p>
            <a:pPr algn="l">
              <a:spcAft>
                <a:spcPts val="300"/>
              </a:spcAft>
            </a:pPr>
            <a:r>
              <a:rPr sz="1200" b="0">
                <a:solidFill>
                  <a:srgbClr val="E6EDF3"/>
                </a:solidFill>
                <a:latin typeface="Calibri"/>
              </a:rPr>
              <a:t>×  Custom tooling per account before global kit</a:t>
            </a:r>
          </a:p>
          <a:p>
            <a:pPr algn="l">
              <a:spcAft>
                <a:spcPts val="300"/>
              </a:spcAft>
            </a:pPr>
            <a:r>
              <a:rPr sz="1200" b="0">
                <a:solidFill>
                  <a:srgbClr val="E6EDF3"/>
                </a:solidFill>
                <a:latin typeface="Calibri"/>
              </a:rPr>
              <a:t>×  Below-floor proofs of concept</a:t>
            </a:r>
          </a:p>
          <a:p>
            <a:pPr algn="l">
              <a:spcAft>
                <a:spcPts val="300"/>
              </a:spcAft>
            </a:pPr>
            <a:r>
              <a:rPr sz="1200" b="0">
                <a:solidFill>
                  <a:srgbClr val="E6EDF3"/>
                </a:solidFill>
                <a:latin typeface="Calibri"/>
              </a:rPr>
              <a:t>×  Regional bespoke rate cards</a:t>
            </a:r>
          </a:p>
          <a:p>
            <a:pPr algn="l">
              <a:spcAft>
                <a:spcPts val="300"/>
              </a:spcAft>
            </a:pPr>
            <a:r>
              <a:rPr sz="1200" b="0">
                <a:solidFill>
                  <a:srgbClr val="E6EDF3"/>
                </a:solidFill>
                <a:latin typeface="Calibri"/>
              </a:rPr>
              <a:t>×  Rebrand without Sales / Deal Desk kit</a:t>
            </a:r>
          </a:p>
        </p:txBody>
      </p:sp>
      <p:sp>
        <p:nvSpPr>
          <p:cNvPr id="14" name="Rounded Rectangle 13"/>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16" name="Rounded Rectangle 15"/>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18" name="Rounded Rectangle 17"/>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20" name="Rounded Rectangle 19"/>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22" name="Rounded Rectangle 21"/>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76872"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76872"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5 Guardrails</a:t>
            </a:r>
          </a:p>
        </p:txBody>
      </p:sp>
      <p:sp>
        <p:nvSpPr>
          <p:cNvPr id="25" name="Rounded Rectangle 24"/>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27" name="Rounded Rectangle 26"/>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29" name="TextBox 28"/>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0" name="TextBox 29"/>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6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6 OF 7  ·  CROSS-FUNCTIONAL PLAN + SUCCESS METRICS + FEEDBACK LOOP</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One program — Sales, Marketing, Finance, regions</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58A6FF"/>
                </a:solidFill>
                <a:latin typeface="Calibri"/>
              </a:rPr>
              <a:t>STAGE 6  ·  ALIGN &amp; MEASURE</a:t>
            </a:r>
          </a:p>
        </p:txBody>
      </p:sp>
      <p:sp>
        <p:nvSpPr>
          <p:cNvPr id="8" name="Rounded Rectangle 7"/>
          <p:cNvSpPr/>
          <p:nvPr/>
        </p:nvSpPr>
        <p:spPr>
          <a:xfrm>
            <a:off x="502920" y="1554480"/>
            <a:ext cx="2743200" cy="21488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554480"/>
            <a:ext cx="73152" cy="2148840"/>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691640"/>
            <a:ext cx="2423160" cy="1874519"/>
          </a:xfrm>
          <a:prstGeom prst="rect">
            <a:avLst/>
          </a:prstGeom>
          <a:noFill/>
        </p:spPr>
        <p:txBody>
          <a:bodyPr wrap="square">
            <a:spAutoFit/>
          </a:bodyPr>
          <a:lstStyle/>
          <a:p>
            <a:pPr algn="l">
              <a:spcAft>
                <a:spcPts val="500"/>
              </a:spcAft>
            </a:pPr>
            <a:r>
              <a:rPr sz="1100" b="1">
                <a:solidFill>
                  <a:srgbClr val="58A6FF"/>
                </a:solidFill>
                <a:latin typeface="Calibri"/>
              </a:rPr>
              <a:t>SALES / DEAL DESK</a:t>
            </a:r>
          </a:p>
          <a:p>
            <a:pPr algn="l">
              <a:spcAft>
                <a:spcPts val="500"/>
              </a:spcAft>
            </a:pPr>
            <a:r>
              <a:rPr sz="1200" b="1">
                <a:solidFill>
                  <a:srgbClr val="E6EDF3"/>
                </a:solidFill>
                <a:latin typeface="Calibri"/>
              </a:rPr>
              <a:t>≥80% bids on tier + rate card by Q2</a:t>
            </a:r>
          </a:p>
          <a:p>
            <a:pPr algn="l">
              <a:spcAft>
                <a:spcPts val="0"/>
              </a:spcAft>
            </a:pPr>
            <a:r>
              <a:rPr sz="1100" b="0">
                <a:solidFill>
                  <a:srgbClr val="8B9CB3"/>
                </a:solidFill>
                <a:latin typeface="Calibri"/>
              </a:rPr>
              <a:t>Discovery kit · ROI calc · discount-trade checklist</a:t>
            </a:r>
          </a:p>
        </p:txBody>
      </p:sp>
      <p:sp>
        <p:nvSpPr>
          <p:cNvPr id="11" name="Rounded Rectangle 10"/>
          <p:cNvSpPr/>
          <p:nvPr/>
        </p:nvSpPr>
        <p:spPr>
          <a:xfrm>
            <a:off x="3383280" y="1554480"/>
            <a:ext cx="2743200" cy="21488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83280" y="1554480"/>
            <a:ext cx="73152" cy="2148840"/>
          </a:xfrm>
          <a:prstGeom prst="rect">
            <a:avLst/>
          </a:prstGeom>
          <a:solidFill>
            <a:srgbClr val="A37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1691640"/>
            <a:ext cx="2423160" cy="1874519"/>
          </a:xfrm>
          <a:prstGeom prst="rect">
            <a:avLst/>
          </a:prstGeom>
          <a:noFill/>
        </p:spPr>
        <p:txBody>
          <a:bodyPr wrap="square">
            <a:spAutoFit/>
          </a:bodyPr>
          <a:lstStyle/>
          <a:p>
            <a:pPr algn="l">
              <a:spcAft>
                <a:spcPts val="500"/>
              </a:spcAft>
            </a:pPr>
            <a:r>
              <a:rPr sz="1100" b="1">
                <a:solidFill>
                  <a:srgbClr val="A371F7"/>
                </a:solidFill>
                <a:latin typeface="Calibri"/>
              </a:rPr>
              <a:t>MARKETING</a:t>
            </a:r>
          </a:p>
          <a:p>
            <a:pPr algn="l">
              <a:spcAft>
                <a:spcPts val="500"/>
              </a:spcAft>
            </a:pPr>
            <a:r>
              <a:rPr sz="1200" b="1">
                <a:solidFill>
                  <a:srgbClr val="E6EDF3"/>
                </a:solidFill>
                <a:latin typeface="Calibri"/>
              </a:rPr>
              <a:t>One narrative: App Ops by tier</a:t>
            </a:r>
          </a:p>
          <a:p>
            <a:pPr algn="l">
              <a:spcAft>
                <a:spcPts val="0"/>
              </a:spcAft>
            </a:pPr>
            <a:r>
              <a:rPr sz="1100" b="0">
                <a:solidFill>
                  <a:srgbClr val="8B9CB3"/>
                </a:solidFill>
                <a:latin typeface="Calibri"/>
              </a:rPr>
              <a:t>One-pagers · proof · retire staffing language</a:t>
            </a:r>
          </a:p>
        </p:txBody>
      </p:sp>
      <p:sp>
        <p:nvSpPr>
          <p:cNvPr id="14" name="Rounded Rectangle 13"/>
          <p:cNvSpPr/>
          <p:nvPr/>
        </p:nvSpPr>
        <p:spPr>
          <a:xfrm>
            <a:off x="6263640" y="1554480"/>
            <a:ext cx="2743200" cy="21488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554480"/>
            <a:ext cx="73152" cy="214884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2" y="1691640"/>
            <a:ext cx="2423160" cy="1874519"/>
          </a:xfrm>
          <a:prstGeom prst="rect">
            <a:avLst/>
          </a:prstGeom>
          <a:noFill/>
        </p:spPr>
        <p:txBody>
          <a:bodyPr wrap="square">
            <a:spAutoFit/>
          </a:bodyPr>
          <a:lstStyle/>
          <a:p>
            <a:pPr algn="l">
              <a:spcAft>
                <a:spcPts val="500"/>
              </a:spcAft>
            </a:pPr>
            <a:r>
              <a:rPr sz="1100" b="1">
                <a:solidFill>
                  <a:srgbClr val="D4A853"/>
                </a:solidFill>
                <a:latin typeface="Calibri"/>
              </a:rPr>
              <a:t>FINANCE</a:t>
            </a:r>
          </a:p>
          <a:p>
            <a:pPr algn="l">
              <a:spcAft>
                <a:spcPts val="500"/>
              </a:spcAft>
            </a:pPr>
            <a:r>
              <a:rPr sz="1200" b="1">
                <a:solidFill>
                  <a:srgbClr val="E6EDF3"/>
                </a:solidFill>
                <a:latin typeface="Calibri"/>
              </a:rPr>
              <a:t>Rev-rec · margin floors · EBIT view</a:t>
            </a:r>
          </a:p>
          <a:p>
            <a:pPr algn="l">
              <a:spcAft>
                <a:spcPts val="0"/>
              </a:spcAft>
            </a:pPr>
            <a:r>
              <a:rPr sz="1100" b="0">
                <a:solidFill>
                  <a:srgbClr val="8B9CB3"/>
                </a:solidFill>
                <a:latin typeface="Calibri"/>
              </a:rPr>
              <a:t>Platform vs milestone memo · bid sign-off</a:t>
            </a:r>
          </a:p>
        </p:txBody>
      </p:sp>
      <p:sp>
        <p:nvSpPr>
          <p:cNvPr id="17" name="Rounded Rectangle 16"/>
          <p:cNvSpPr/>
          <p:nvPr/>
        </p:nvSpPr>
        <p:spPr>
          <a:xfrm>
            <a:off x="9144000" y="1554480"/>
            <a:ext cx="2743200" cy="21488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1554480"/>
            <a:ext cx="73152" cy="2148840"/>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08592" y="1691640"/>
            <a:ext cx="2423160" cy="1874519"/>
          </a:xfrm>
          <a:prstGeom prst="rect">
            <a:avLst/>
          </a:prstGeom>
          <a:noFill/>
        </p:spPr>
        <p:txBody>
          <a:bodyPr wrap="square">
            <a:spAutoFit/>
          </a:bodyPr>
          <a:lstStyle/>
          <a:p>
            <a:pPr algn="l">
              <a:spcAft>
                <a:spcPts val="500"/>
              </a:spcAft>
            </a:pPr>
            <a:r>
              <a:rPr sz="1100" b="1">
                <a:solidFill>
                  <a:srgbClr val="3FB950"/>
                </a:solidFill>
                <a:latin typeface="Calibri"/>
              </a:rPr>
              <a:t>REGIONS / ENABLE</a:t>
            </a:r>
          </a:p>
          <a:p>
            <a:pPr algn="l">
              <a:spcAft>
                <a:spcPts val="500"/>
              </a:spcAft>
            </a:pPr>
            <a:r>
              <a:rPr sz="1200" b="1">
                <a:solidFill>
                  <a:srgbClr val="E6EDF3"/>
                </a:solidFill>
                <a:latin typeface="Calibri"/>
              </a:rPr>
              <a:t>Pilots hit catalogue · renewals step up</a:t>
            </a:r>
          </a:p>
          <a:p>
            <a:pPr algn="l">
              <a:spcAft>
                <a:spcPts val="0"/>
              </a:spcAft>
            </a:pPr>
            <a:r>
              <a:rPr sz="1100" b="0">
                <a:solidFill>
                  <a:srgbClr val="8B9CB3"/>
                </a:solidFill>
                <a:latin typeface="Calibri"/>
              </a:rPr>
              <a:t>KT playbook · regional train-the-trainer</a:t>
            </a:r>
          </a:p>
        </p:txBody>
      </p:sp>
      <p:sp>
        <p:nvSpPr>
          <p:cNvPr id="20" name="Rounded Rectangle 19"/>
          <p:cNvSpPr/>
          <p:nvPr/>
        </p:nvSpPr>
        <p:spPr>
          <a:xfrm>
            <a:off x="502920" y="3886200"/>
            <a:ext cx="11155680" cy="196596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023360"/>
            <a:ext cx="10789920" cy="1691640"/>
          </a:xfrm>
          <a:prstGeom prst="rect">
            <a:avLst/>
          </a:prstGeom>
          <a:noFill/>
        </p:spPr>
        <p:txBody>
          <a:bodyPr wrap="square">
            <a:spAutoFit/>
          </a:bodyPr>
          <a:lstStyle/>
          <a:p>
            <a:pPr algn="l">
              <a:spcAft>
                <a:spcPts val="600"/>
              </a:spcAft>
            </a:pPr>
            <a:r>
              <a:rPr sz="1200" b="1">
                <a:solidFill>
                  <a:srgbClr val="D4A853"/>
                </a:solidFill>
                <a:latin typeface="Calibri"/>
              </a:rPr>
              <a:t>12-MONTH SCOREBOARD  ·  Quarterly Pricing Council</a:t>
            </a:r>
          </a:p>
          <a:p>
            <a:pPr algn="l">
              <a:spcAft>
                <a:spcPts val="400"/>
              </a:spcAft>
            </a:pPr>
            <a:r>
              <a:rPr sz="1300" b="0">
                <a:solidFill>
                  <a:srgbClr val="E6EDF3"/>
                </a:solidFill>
                <a:latin typeface="Calibri"/>
              </a:rPr>
              <a:t>Net sales Flat → +8–12%   ·   Gross margin recover 3–4 pts (e.g. toward 25–27%)   ·   Tier adoption ≥80%</a:t>
            </a:r>
          </a:p>
          <a:p>
            <a:pPr algn="l">
              <a:spcAft>
                <a:spcPts val="600"/>
              </a:spcAft>
            </a:pPr>
            <a:r>
              <a:rPr sz="1300" b="0">
                <a:solidFill>
                  <a:srgbClr val="E6EDF3"/>
                </a:solidFill>
                <a:latin typeface="Calibri"/>
              </a:rPr>
              <a:t>Price variance &lt;15%   ·   Wins on value/TCO ≥40%   ·   Renewal step-up ≥25%   ·   ≥70% discounts have a documented scope/term trade</a:t>
            </a:r>
          </a:p>
          <a:p>
            <a:pPr algn="l">
              <a:spcAft>
                <a:spcPts val="0"/>
              </a:spcAft>
            </a:pPr>
            <a:r>
              <a:rPr sz="1200" b="0">
                <a:solidFill>
                  <a:srgbClr val="8B9CB3"/>
                </a:solidFill>
                <a:latin typeface="Calibri"/>
              </a:rPr>
              <a:t>Feedback loop: monthly Deal Desk overrides → quarterly Pricing Council (±3% rate card, pack prices) → annual sunset / reposition re-test</a:t>
            </a:r>
          </a:p>
        </p:txBody>
      </p:sp>
      <p:sp>
        <p:nvSpPr>
          <p:cNvPr id="22" name="Rounded Rectangle 21"/>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24" name="Rounded Rectangle 23"/>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26" name="Rounded Rectangle 25"/>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28" name="Rounded Rectangle 27"/>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30" name="Rounded Rectangle 29"/>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32" name="Rounded Rectangle 31"/>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95360"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95360"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6 Align</a:t>
            </a:r>
          </a:p>
        </p:txBody>
      </p:sp>
      <p:sp>
        <p:nvSpPr>
          <p:cNvPr id="35" name="Rounded Rectangle 34"/>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1384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7 Ask</a:t>
            </a:r>
          </a:p>
        </p:txBody>
      </p:sp>
      <p:sp>
        <p:nvSpPr>
          <p:cNvPr id="37" name="TextBox 36"/>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8" name="TextBox 37"/>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7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4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none">
            <a:spAutoFit/>
          </a:bodyPr>
          <a:lstStyle/>
          <a:p>
            <a:pPr algn="l">
              <a:spcAft>
                <a:spcPts val="0"/>
              </a:spcAft>
            </a:pPr>
            <a:r>
              <a:rPr sz="1000" b="1">
                <a:solidFill>
                  <a:srgbClr val="58A6FF"/>
                </a:solidFill>
                <a:latin typeface="Calibri"/>
              </a:rPr>
              <a:t>STORYLINE STEP 7 OF 7  ·  CLOSE AND HAND TO QUESTIONS</a:t>
            </a:r>
          </a:p>
        </p:txBody>
      </p:sp>
      <p:sp>
        <p:nvSpPr>
          <p:cNvPr id="4" name="TextBox 3"/>
          <p:cNvSpPr txBox="1"/>
          <p:nvPr/>
        </p:nvSpPr>
        <p:spPr>
          <a:xfrm>
            <a:off x="502920" y="438912"/>
            <a:ext cx="11155680" cy="594360"/>
          </a:xfrm>
          <a:prstGeom prst="rect">
            <a:avLst/>
          </a:prstGeom>
          <a:noFill/>
        </p:spPr>
        <p:txBody>
          <a:bodyPr wrap="square">
            <a:spAutoFit/>
          </a:bodyPr>
          <a:lstStyle/>
          <a:p>
            <a:pPr algn="l">
              <a:spcAft>
                <a:spcPts val="0"/>
              </a:spcAft>
            </a:pPr>
            <a:r>
              <a:rPr sz="2400" b="1">
                <a:solidFill>
                  <a:srgbClr val="D4A853"/>
                </a:solidFill>
                <a:latin typeface="Calibri"/>
              </a:rPr>
              <a:t>Reposition. Land with tiers. Expand when value is proven.</a:t>
            </a:r>
          </a:p>
        </p:txBody>
      </p:sp>
      <p:sp>
        <p:nvSpPr>
          <p:cNvPr id="5" name="Rounded Rectangle 4"/>
          <p:cNvSpPr/>
          <p:nvPr/>
        </p:nvSpPr>
        <p:spPr>
          <a:xfrm>
            <a:off x="502920" y="1051560"/>
            <a:ext cx="2606040" cy="38404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051560"/>
            <a:ext cx="73152" cy="384048"/>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097280"/>
            <a:ext cx="2331720" cy="320040"/>
          </a:xfrm>
          <a:prstGeom prst="rect">
            <a:avLst/>
          </a:prstGeom>
          <a:noFill/>
        </p:spPr>
        <p:txBody>
          <a:bodyPr wrap="none">
            <a:spAutoFit/>
          </a:bodyPr>
          <a:lstStyle/>
          <a:p>
            <a:pPr algn="l">
              <a:spcAft>
                <a:spcPts val="0"/>
              </a:spcAft>
            </a:pPr>
            <a:r>
              <a:rPr sz="1100" b="1">
                <a:solidFill>
                  <a:srgbClr val="3FB950"/>
                </a:solidFill>
                <a:latin typeface="Calibri"/>
              </a:rPr>
              <a:t>STAGE 7  ·  ASK</a:t>
            </a:r>
          </a:p>
        </p:txBody>
      </p:sp>
      <p:sp>
        <p:nvSpPr>
          <p:cNvPr id="8" name="Rounded Rectangle 7"/>
          <p:cNvSpPr/>
          <p:nvPr/>
        </p:nvSpPr>
        <p:spPr>
          <a:xfrm>
            <a:off x="502920" y="1554480"/>
            <a:ext cx="11155680" cy="137160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91640"/>
            <a:ext cx="10789920" cy="1097280"/>
          </a:xfrm>
          <a:prstGeom prst="rect">
            <a:avLst/>
          </a:prstGeom>
          <a:noFill/>
        </p:spPr>
        <p:txBody>
          <a:bodyPr wrap="square">
            <a:spAutoFit/>
          </a:bodyPr>
          <a:lstStyle/>
          <a:p>
            <a:pPr algn="l">
              <a:spcAft>
                <a:spcPts val="500"/>
              </a:spcAft>
            </a:pPr>
            <a:r>
              <a:rPr sz="1100" b="1">
                <a:solidFill>
                  <a:srgbClr val="58A6FF"/>
                </a:solidFill>
                <a:latin typeface="Calibri"/>
              </a:rPr>
              <a:t>THE CALL</a:t>
            </a:r>
          </a:p>
          <a:p>
            <a:pPr algn="l">
              <a:spcAft>
                <a:spcPts val="0"/>
              </a:spcAft>
            </a:pPr>
            <a:r>
              <a:rPr sz="1300" b="0">
                <a:solidFill>
                  <a:srgbClr val="E6EDF3"/>
                </a:solidFill>
                <a:latin typeface="Calibri"/>
              </a:rPr>
              <a:t>Reposition Application Managed Services as Outcome-Tiered Application Operations (Stabilize → Optimize → Autonomize). Do not sunset. Do not evolve tooling without fixing the sellable unit. Use discounts to sustain net sales only when traded for scope, term, or attach. Fund Deal Desk guardrails in Q1; pilot in two regions; govern with a quarterly Pricing Council.</a:t>
            </a:r>
          </a:p>
        </p:txBody>
      </p:sp>
      <p:sp>
        <p:nvSpPr>
          <p:cNvPr id="10" name="Rounded Rectangle 9"/>
          <p:cNvSpPr/>
          <p:nvPr/>
        </p:nvSpPr>
        <p:spPr>
          <a:xfrm>
            <a:off x="502920" y="3108960"/>
            <a:ext cx="5486400" cy="26060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46120"/>
            <a:ext cx="5120640" cy="2331720"/>
          </a:xfrm>
          <a:prstGeom prst="rect">
            <a:avLst/>
          </a:prstGeom>
          <a:noFill/>
        </p:spPr>
        <p:txBody>
          <a:bodyPr wrap="square">
            <a:spAutoFit/>
          </a:bodyPr>
          <a:lstStyle/>
          <a:p>
            <a:pPr algn="l">
              <a:spcAft>
                <a:spcPts val="600"/>
              </a:spcAft>
            </a:pPr>
            <a:r>
              <a:rPr sz="1100" b="1">
                <a:solidFill>
                  <a:srgbClr val="D4A853"/>
                </a:solidFill>
                <a:latin typeface="Calibri"/>
              </a:rPr>
              <a:t>THOUGHT PROCESS THEY SHOULD HEAR</a:t>
            </a:r>
          </a:p>
          <a:p>
            <a:pPr algn="l">
              <a:spcAft>
                <a:spcPts val="500"/>
              </a:spcAft>
            </a:pPr>
            <a:r>
              <a:rPr sz="1300" b="0">
                <a:solidFill>
                  <a:srgbClr val="E6EDF3"/>
                </a:solidFill>
                <a:latin typeface="Calibri"/>
              </a:rPr>
              <a:t>1 Diagnose with five lenses</a:t>
            </a:r>
          </a:p>
          <a:p>
            <a:pPr algn="l">
              <a:spcAft>
                <a:spcPts val="500"/>
              </a:spcAft>
            </a:pPr>
            <a:r>
              <a:rPr sz="1300" b="0">
                <a:solidFill>
                  <a:srgbClr val="E6EDF3"/>
                </a:solidFill>
                <a:latin typeface="Calibri"/>
              </a:rPr>
              <a:t>2 Synthesize commercial root causes</a:t>
            </a:r>
          </a:p>
          <a:p>
            <a:pPr algn="l">
              <a:spcAft>
                <a:spcPts val="500"/>
              </a:spcAft>
            </a:pPr>
            <a:r>
              <a:rPr sz="1300" b="0">
                <a:solidFill>
                  <a:srgbClr val="E6EDF3"/>
                </a:solidFill>
                <a:latin typeface="Calibri"/>
              </a:rPr>
              <a:t>3 Decide with trade-offs → Reposition</a:t>
            </a:r>
          </a:p>
          <a:p>
            <a:pPr algn="l">
              <a:spcAft>
                <a:spcPts val="500"/>
              </a:spcAft>
            </a:pPr>
            <a:r>
              <a:rPr sz="1300" b="0">
                <a:solidFill>
                  <a:srgbClr val="E6EDF3"/>
                </a:solidFill>
                <a:latin typeface="Calibri"/>
              </a:rPr>
              <a:t>4 Package / guardrail / enable / measure</a:t>
            </a:r>
          </a:p>
        </p:txBody>
      </p:sp>
      <p:sp>
        <p:nvSpPr>
          <p:cNvPr id="12" name="Rounded Rectangle 11"/>
          <p:cNvSpPr/>
          <p:nvPr/>
        </p:nvSpPr>
        <p:spPr>
          <a:xfrm>
            <a:off x="6217920" y="3108960"/>
            <a:ext cx="5440680" cy="2606040"/>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246120"/>
            <a:ext cx="5074920" cy="2331720"/>
          </a:xfrm>
          <a:prstGeom prst="rect">
            <a:avLst/>
          </a:prstGeom>
          <a:noFill/>
        </p:spPr>
        <p:txBody>
          <a:bodyPr wrap="square">
            <a:spAutoFit/>
          </a:bodyPr>
          <a:lstStyle/>
          <a:p>
            <a:pPr algn="l">
              <a:spcAft>
                <a:spcPts val="600"/>
              </a:spcAft>
            </a:pPr>
            <a:r>
              <a:rPr sz="1100" b="1">
                <a:solidFill>
                  <a:srgbClr val="3FB950"/>
                </a:solidFill>
                <a:latin typeface="Calibri"/>
              </a:rPr>
              <a:t>ASK OF LEADERSHIP</a:t>
            </a:r>
          </a:p>
          <a:p>
            <a:pPr algn="l">
              <a:spcAft>
                <a:spcPts val="500"/>
              </a:spcAft>
            </a:pPr>
            <a:r>
              <a:rPr sz="1300" b="0">
                <a:solidFill>
                  <a:srgbClr val="E6EDF3"/>
                </a:solidFill>
                <a:latin typeface="Calibri"/>
              </a:rPr>
              <a:t>▸  Approve reposition + global rate card</a:t>
            </a:r>
          </a:p>
          <a:p>
            <a:pPr algn="l">
              <a:spcAft>
                <a:spcPts val="500"/>
              </a:spcAft>
            </a:pPr>
            <a:r>
              <a:rPr sz="1300" b="0">
                <a:solidFill>
                  <a:srgbClr val="E6EDF3"/>
                </a:solidFill>
                <a:latin typeface="Calibri"/>
              </a:rPr>
              <a:t>▸  Stand up Deal Desk trade rules this quarter</a:t>
            </a:r>
          </a:p>
          <a:p>
            <a:pPr algn="l">
              <a:spcAft>
                <a:spcPts val="500"/>
              </a:spcAft>
            </a:pPr>
            <a:r>
              <a:rPr sz="1300" b="0">
                <a:solidFill>
                  <a:srgbClr val="E6EDF3"/>
                </a:solidFill>
                <a:latin typeface="Calibri"/>
              </a:rPr>
              <a:t>▸  Authorize two regional pilots</a:t>
            </a:r>
          </a:p>
          <a:p>
            <a:pPr algn="l">
              <a:spcAft>
                <a:spcPts val="500"/>
              </a:spcAft>
            </a:pPr>
            <a:r>
              <a:rPr sz="1300" b="0">
                <a:solidFill>
                  <a:srgbClr val="E6EDF3"/>
                </a:solidFill>
                <a:latin typeface="Calibri"/>
              </a:rPr>
              <a:t>▸  Name Product owner + monthly steering</a:t>
            </a:r>
          </a:p>
        </p:txBody>
      </p:sp>
      <p:sp>
        <p:nvSpPr>
          <p:cNvPr id="14" name="Rounded Rectangle 13"/>
          <p:cNvSpPr/>
          <p:nvPr/>
        </p:nvSpPr>
        <p:spPr>
          <a:xfrm>
            <a:off x="50292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1 Diagnose</a:t>
            </a:r>
          </a:p>
        </p:txBody>
      </p:sp>
      <p:sp>
        <p:nvSpPr>
          <p:cNvPr id="16" name="Rounded Rectangle 15"/>
          <p:cNvSpPr/>
          <p:nvPr/>
        </p:nvSpPr>
        <p:spPr>
          <a:xfrm>
            <a:off x="212140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21408"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2 Findings</a:t>
            </a:r>
          </a:p>
        </p:txBody>
      </p:sp>
      <p:sp>
        <p:nvSpPr>
          <p:cNvPr id="18" name="Rounded Rectangle 17"/>
          <p:cNvSpPr/>
          <p:nvPr/>
        </p:nvSpPr>
        <p:spPr>
          <a:xfrm>
            <a:off x="3739896"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39896"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3 Decide</a:t>
            </a:r>
          </a:p>
        </p:txBody>
      </p:sp>
      <p:sp>
        <p:nvSpPr>
          <p:cNvPr id="20" name="Rounded Rectangle 19"/>
          <p:cNvSpPr/>
          <p:nvPr/>
        </p:nvSpPr>
        <p:spPr>
          <a:xfrm>
            <a:off x="5358384"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8384"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4 Package</a:t>
            </a:r>
          </a:p>
        </p:txBody>
      </p:sp>
      <p:sp>
        <p:nvSpPr>
          <p:cNvPr id="22" name="Rounded Rectangle 21"/>
          <p:cNvSpPr/>
          <p:nvPr/>
        </p:nvSpPr>
        <p:spPr>
          <a:xfrm>
            <a:off x="6976872"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76872"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5 Guardrails</a:t>
            </a:r>
          </a:p>
        </p:txBody>
      </p:sp>
      <p:sp>
        <p:nvSpPr>
          <p:cNvPr id="24" name="Rounded Rectangle 23"/>
          <p:cNvSpPr/>
          <p:nvPr/>
        </p:nvSpPr>
        <p:spPr>
          <a:xfrm>
            <a:off x="8595360"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6217920"/>
            <a:ext cx="1508760" cy="256032"/>
          </a:xfrm>
          <a:prstGeom prst="rect">
            <a:avLst/>
          </a:prstGeom>
          <a:noFill/>
        </p:spPr>
        <p:txBody>
          <a:bodyPr wrap="none">
            <a:spAutoFit/>
          </a:bodyPr>
          <a:lstStyle/>
          <a:p>
            <a:pPr algn="ctr">
              <a:spcAft>
                <a:spcPts val="0"/>
              </a:spcAft>
            </a:pPr>
            <a:r>
              <a:rPr sz="1000" b="0">
                <a:solidFill>
                  <a:srgbClr val="8B9CB3"/>
                </a:solidFill>
                <a:latin typeface="Calibri"/>
              </a:rPr>
              <a:t>6 Align</a:t>
            </a:r>
          </a:p>
        </p:txBody>
      </p:sp>
      <p:sp>
        <p:nvSpPr>
          <p:cNvPr id="26" name="Rounded Rectangle 25"/>
          <p:cNvSpPr/>
          <p:nvPr/>
        </p:nvSpPr>
        <p:spPr>
          <a:xfrm>
            <a:off x="10213848" y="6199632"/>
            <a:ext cx="1508760" cy="292608"/>
          </a:xfrm>
          <a:prstGeom prst="roundRect">
            <a:avLst>
              <a:gd name="adj" fmla="val 8000"/>
            </a:avLst>
          </a:prstGeom>
          <a:solidFill>
            <a:srgbClr val="1A23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213848" y="6199632"/>
            <a:ext cx="1508760" cy="45720"/>
          </a:xfrm>
          <a:prstGeom prst="rect">
            <a:avLst/>
          </a:prstGeom>
          <a:solidFill>
            <a:srgbClr val="D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3848" y="6217920"/>
            <a:ext cx="1508760" cy="256032"/>
          </a:xfrm>
          <a:prstGeom prst="rect">
            <a:avLst/>
          </a:prstGeom>
          <a:noFill/>
        </p:spPr>
        <p:txBody>
          <a:bodyPr wrap="none">
            <a:spAutoFit/>
          </a:bodyPr>
          <a:lstStyle/>
          <a:p>
            <a:pPr algn="ctr">
              <a:spcAft>
                <a:spcPts val="0"/>
              </a:spcAft>
            </a:pPr>
            <a:r>
              <a:rPr sz="1000" b="1">
                <a:solidFill>
                  <a:srgbClr val="D4A853"/>
                </a:solidFill>
                <a:latin typeface="Calibri"/>
              </a:rPr>
              <a:t>7 Ask</a:t>
            </a:r>
          </a:p>
        </p:txBody>
      </p:sp>
      <p:sp>
        <p:nvSpPr>
          <p:cNvPr id="29" name="TextBox 28"/>
          <p:cNvSpPr txBox="1"/>
          <p:nvPr/>
        </p:nvSpPr>
        <p:spPr>
          <a:xfrm>
            <a:off x="502920" y="6492240"/>
            <a:ext cx="9144000" cy="256032"/>
          </a:xfrm>
          <a:prstGeom prst="rect">
            <a:avLst/>
          </a:prstGeom>
          <a:noFill/>
        </p:spPr>
        <p:txBody>
          <a:bodyPr wrap="none">
            <a:spAutoFit/>
          </a:bodyPr>
          <a:lstStyle/>
          <a:p>
            <a:pPr algn="l">
              <a:spcAft>
                <a:spcPts val="0"/>
              </a:spcAft>
            </a:pPr>
            <a:r>
              <a:rPr sz="1000" b="0">
                <a:solidFill>
                  <a:srgbClr val="8B9CB3"/>
                </a:solidFill>
                <a:latin typeface="Calibri"/>
              </a:rPr>
              <a:t>Case Study 1 · Reposition underperforming offering · Gaurav Chaudhary</a:t>
            </a:r>
          </a:p>
        </p:txBody>
      </p:sp>
      <p:sp>
        <p:nvSpPr>
          <p:cNvPr id="30" name="TextBox 29"/>
          <p:cNvSpPr txBox="1"/>
          <p:nvPr/>
        </p:nvSpPr>
        <p:spPr>
          <a:xfrm>
            <a:off x="10515600" y="6492240"/>
            <a:ext cx="1188720" cy="256032"/>
          </a:xfrm>
          <a:prstGeom prst="rect">
            <a:avLst/>
          </a:prstGeom>
          <a:noFill/>
        </p:spPr>
        <p:txBody>
          <a:bodyPr wrap="none">
            <a:spAutoFit/>
          </a:bodyPr>
          <a:lstStyle/>
          <a:p>
            <a:pPr algn="r">
              <a:spcAft>
                <a:spcPts val="0"/>
              </a:spcAft>
            </a:pPr>
            <a:r>
              <a:rPr sz="1000" b="0">
                <a:solidFill>
                  <a:srgbClr val="8B9CB3"/>
                </a:solidFill>
                <a:latin typeface="Calibri"/>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
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WHAT TO SAY:</a:t>
            </a:r>
          </a:p>
          <a:p>
            <a:r>
              <a:t>Paradox first: delivery satisfaction strong, sales flat, margin illustratively 28% → 22–24% (−4 to −6 percentage points). Commercial problem, not delivery.</a:t>
            </a:r>
          </a:p>
          <a:p/>
          <a:p>
            <a:r>
              <a:t>Tell them the storyline is sequential — one stage per slide — so they need not hold everything at once.</a:t>
            </a:r>
          </a:p>
          <a:p/>
          <a:p>
            <a:r>
              <a:t>GLOSSARY: Net sales · Gross margin · Deal Desk · Attach — as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 ONLY THIS SLIDE’S JOB: how we diagnose — not the answer yet.</a:t>
            </a:r>
          </a:p>
          <a:p>
            <a:r>
              <a:t>Walk five lenses A→E. Emphasize decision triggers.</a:t>
            </a:r>
          </a:p>
          <a:p>
            <a:r>
              <a:t>Next slide = what we expect the data to show.</a:t>
            </a:r>
          </a:p>
          <a:p/>
          <a:p>
            <a:r>
              <a:t>GLOSSARY: Win/loss · Gross-margin waterfall · Pull-through · Sunset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These are illustrative findings — what a healthy diagnostic would likely show given the brief.</a:t>
            </a:r>
          </a:p>
          <a:p>
            <a:r>
              <a:t>All three are commercial. Delivery is not the primary failure mode.</a:t>
            </a:r>
          </a:p>
          <a:p>
            <a:r>
              <a:t>Next slide = evolve / reposition / sunset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Recommendation is REPOSITION. Sunset destroys footprint. Evolve-only won’t fix Sales or Deal Desk.</a:t>
            </a:r>
          </a:p>
          <a:p>
            <a:r>
              <a:t>To = Outcome-Tiered Application Operations: Stabilize → Optimize → Transform.</a:t>
            </a:r>
          </a:p>
          <a:p>
            <a:r>
              <a:t>Staffing stays internal; customer buys service class.</a:t>
            </a:r>
          </a:p>
          <a:p>
            <a:r>
              <a:t>Next = how we package and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Walk Stabilize → Optimize → Transform as Sales ladder.</a:t>
            </a:r>
          </a:p>
          <a:p>
            <a:r>
              <a:t>Mandatory priced knowledge transfer. Multi-vendor = optional pack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Three hard rules: floor GM, mandatory KT, ±15% regional variance.</a:t>
            </a:r>
          </a:p>
          <a:p>
            <a:r>
              <a:t>Fund commercial assets before tooling. Explicit stop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Name owners. Scoreboard = how leadership knows it worked. Pricing Council = continuous refinement.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Restate call. Point at the four-step thought process on the left — that is the interview signal.</a:t>
            </a:r>
          </a:p>
          <a:p>
            <a:r>
              <a:t>Then four asks. Hand to questions.</a:t>
            </a:r>
          </a:p>
          <a:p/>
          <a:p>
            <a:r>
              <a:t>Q&amp;A prep same as before (sunset / deal size / rate card / Finance / consolidation optional).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1  ·  10-MINUTE COMMERCIAL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 an underperforming portfolio offering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Application Managed Services: strong technical delivery, but commercially stuck — flat net sales, declining gross margin, Sales cannot articulate value, inconsistent regional pricing.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NET SALES (2 YEARS)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8B9CB3"/>
                </a:solidFill>
                <a:latin typeface="Calibri"/>
              </a:rPr>
              <a:t>Flat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Weak conversion · little attach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GROSS MARGIN (ILLUSTRATIVE)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87171"/>
                </a:solidFill>
                <a:latin typeface="Calibri"/>
              </a:rPr>
              <a:t>28% → 22–24%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−4 to −6 percentage points over 2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356616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928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DELIVERY SATISFACTION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Strong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Execution is not the failure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3756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EXECUTIVE FRAMING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Commercial / go-to-market problem — not a delivery turnaround. Sold as headcount; buyers purchase outcomes, cost predictability, and risk reduction. Leadership asks: evolve, reposition, or sunset.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Five-lens diagnosis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2  Illustrative findings (what the data would show)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3  Decision framework → Reposition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Package &amp; price   ·   5  Guardrails &amp; invest   ·   6  Align &amp; measure   ·   7 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GATHER EVIDENCE BEFORE ANY PORTFOLIO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Five-lens diagnosis — what we would gather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1  ·  FIVE-LENS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Four-week commercial diagnostic · parallel workstreams · one steering forum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A  WIN / LOSS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15–20 deals. Tag losses: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price-only vs value unclear.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value unclear &gt;30% → positioning broken.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B  MARGIN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Gross-margin waterfall: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discount · transition overrun 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scope. Trigger: discount-led bleed → guardrails.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  COMPETITIVE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Staff augmentation vs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outcome-packaged peers.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Trigger: buyers ask for tiers → reposition.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0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D  CUSTOMER VOICE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High satisfaction + low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willingness to pay =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story gap, not execution gap.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1691640"/>
            <a:ext cx="214884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20" y="1691640"/>
            <a:ext cx="214884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56648" y="1920240"/>
            <a:ext cx="19202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E  PORTFOLIO FIT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18-month margin path?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Strategic pull-through?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Sunset only if both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Diagnose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ILLUSTRATIVE SYNTHESIS FROM THE DIAGNOSTIC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Likely findings — commercial root causes, not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STAGE 2  ·  ILLUSTRATIVE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Expected outcome of the five lenses — three reinforcing commercial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1  COMMODITIZED PACKAGING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Sold as Level-1 / Level-2 / Level-3 staffing towers.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Procurement benches us against systems integrators on rate-per-person.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flat sales; technical wins die in procurement.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2  PRICING CHAOS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Regions discount ad hoc — no enforceable global floor.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Knowledge transfer underpriced; unpaid scope creep.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margin e.g. 28% → 22–24% while delivery scores 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7315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3  VALUE STORY GAP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Buyers want outcomes and predictability.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Sales still pitches headcount replacement.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Symptom: “Sales cannot explain the value.”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1408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PORTFOLIO CALL WITH EXPLICIT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Decision framework → Reposition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3  · 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097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Choose with trade-offs — then change the sellable unit, not only the tooling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SUNSET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Rejects delivery DNA and account footprint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High exit cost; competitors inherit the base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Use ONLY if no 18-month margin path AND no pull-through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Not indicated 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8B9CB3"/>
                </a:solidFill>
                <a:latin typeface="Calibri"/>
              </a:rPr>
              <a:t>EVOLVE ONLY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More tooling / process — same sellable unit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Sales narrative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Does not fix regional pricing chaos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•  Necessary later; insufficient alone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611880" cy="3977639"/>
          </a:xfrm>
          <a:prstGeom prst="roundRect">
            <a:avLst>
              <a:gd name="adj" fmla="val 8000"/>
            </a:avLst>
          </a:prstGeom>
          <a:noFill/>
          <a:ln w="3175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46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REPOSITION  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Outcome-tiered Application Operations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Stabilize → Optimize → Transform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Evolve modules selectively underneath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Accepted trade-off: near-term deal size may dip; attach + renewals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39896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Decide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IF REPOSITIONING — REVISED PACKAGING AND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Sell tiers and outcomes — not staffing towers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4  ·  PACKAGE &amp;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3611880" cy="7315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4A853"/>
                </a:solidFill>
                <a:latin typeface="Calibri"/>
              </a:rPr>
              <a:t>STABILIZE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Restore control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Backlog · service-level baseline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Single accountability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Platform fee + criticality class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645920"/>
            <a:ext cx="3611880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58A6FF"/>
                </a:solidFill>
                <a:latin typeface="Calibri"/>
              </a:rPr>
              <a:t>OPTIMIZE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Prove efficiency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Monitoring / automation packs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Outcome-band vs service levels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Optional gain-share on savings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45920"/>
            <a:ext cx="3611880" cy="32461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45920"/>
            <a:ext cx="3611880" cy="73152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874519"/>
            <a:ext cx="324612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TRANSFORM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Operating-model uplift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+ Continuous improvement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Milestone elements (Finance OK)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Executive scorecard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Floor gross margin ≥ 28%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0749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16636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ATTACH PACKS  ·  PRICED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Mandatory: knowledge-transfer on new logos. Optional: top-offender sprint · monitoring jump-start. Multi-vendor governance — ONLY when win/loss shows demand (not required for reposition).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58384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Package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COMMERCIAL DISCIPLINE AND INVESTMENT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Deal Desk rules that stop the bleed — fund return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5  ·  GUARDRAILS &amp; INVEST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760720" cy="4114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PRICING GUARDRAILS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Floor gross margin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Stabilize ≥22% · Optimize ≥26% · Transform ≥28%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Maximum discount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≤12% off list (≤8% renewals) — trade scope / term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Transition pricing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Knowledge-transfer mandatory · min 8% Year-1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Scope change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Unpaid work cap 2% of annual contract value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Regional variance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Like-for-like within ±15% of global rate card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Credits / penalties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Soft-ramp M1–6 · Finance revenue-recognition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645920"/>
            <a:ext cx="521208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83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3FB950"/>
                </a:solidFill>
                <a:latin typeface="Calibri"/>
              </a:rPr>
              <a:t>FUND FIRST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Q1: Rate card · tiers · Deal Desk toolkit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Q2: Service-level catalogue · 2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Q3–4: Packs · renewal step-up · scale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Year 2: Retire headcount-only contracts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114800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25196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STOP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Custom tooling per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Below-floor proofs of concept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Regional bespoke rate cards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×  Rebrand without Sales kit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76872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CROSS-FUNCTIONAL PLAN AND FEEDBACK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One program — Sales, Marketing, Finance, regions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6  ·  ALIGN &amp; MEASURE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73152" cy="21945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SALES / DEAL DESK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≥80% bids on tier + rate card by Q2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Discovery kit · ROI calculator · weekly reviews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645920"/>
            <a:ext cx="73152" cy="2194560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MARKETING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One narrative: Application Ops by tier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One-pagers · proof stories · retire staffing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73152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FINANCE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Revenue recognition · margin floors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Platform vs milestone memo · bid sign-off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6459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73152" cy="219456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783080"/>
            <a:ext cx="2423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REGIONS / DELIVERY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E6EDF3"/>
                </a:solidFill>
                <a:latin typeface="Calibri"/>
              </a:rPr>
              <a:t>Pilots hit service-level catalogue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playbook · renewal step-ups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6908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0624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12-MONTH SCOREBOARD  ·  Quarterly Pricing Council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Net sales Flat → +8–12%   ·   Gross margin recover 3–4 percentage points (e.g. toward 25–27%)   ·   Tier adoption ≥80%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Price variance &lt;15%   ·   Wins on value/total-cost ≥40%   ·   Renewal step-up ≥25%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Feedback: monthly Deal Desk overrides → quarterly Pricing Council (±3% rate card) → annual sunset re-test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95360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Align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CLOSE AND HAND TO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Reposition. Land with tiers. Expand when value is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3774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THE CALL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Reposition Application Managed Services as Outcome-Tiered Application Operations (Stabilize → Optimize → Transform). Do not sunset. Do not evolve tooling without fixing the sellable unit. Fund guardrails in Quarter 1; pilot in two regions; measure with a quarterly Pricing Council.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91840"/>
            <a:ext cx="548640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THOUGHT PROCESS THEY SHOULD HEAR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1 Diagnose with five lenses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2 Synthesize commercial root causes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3 Decide with trade-offs → Reposition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4 Package / guardrail / enable / measure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2918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29000"/>
            <a:ext cx="5074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ASK OF LEADERSHIP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Approve reposition + global rate card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Stand up Deal Desk guardrails this quarter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Authorize two regional pilots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▸  Name Product owner + monthly steering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76072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Diagnose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Decide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Package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Align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1 · Reposition underperforming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
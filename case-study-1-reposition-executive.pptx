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1:15</a:t>
            </a:r>
          </a:p>
          <a:p/>
          <a:p>
            <a:r>
              <a:t>WHAT TO SAY:</a:t>
            </a:r>
          </a:p>
          <a:p>
            <a:r>
              <a:t>Paradox first: delivery satisfaction strong, sales flat, margin illustratively 28% → 22–24% (−4 to −6 percentage points). Commercial problem, not delivery.</a:t>
            </a:r>
          </a:p>
          <a:p/>
          <a:p>
            <a:r>
              <a:t>Tell them the storyline is sequential — one stage per slide — so they need not hold everything at once.</a:t>
            </a:r>
          </a:p>
          <a:p>
            <a:r>
              <a:t>Point at the top-right timer: each slide has a budget; gold bar counts down when Slideshow starts; you still click to advance.</a:t>
            </a:r>
          </a:p>
          <a:p/>
          <a:p>
            <a:r>
              <a:t>GLOSSARY: Net sales · Gross margin · Deal Desk · Attach — as before.</a:t>
            </a:r>
          </a:p>
          <a:p/>
          <a:p>
            <a:r>
              <a:t>ON-SLIDE TIMER: Budget 1:15 for this slide. Gold bar counts down in Slideshow; red MOVE ON appears when budget ends (does not auto-advance). Prefer presenter-timer.html on a second screen for a live stopwatch that records actual seconds per slide. By end of this slide you should be at ~1:15 of 10:00 (~8:45 remaining).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~1:15</a:t>
            </a:r>
          </a:p>
          <a:p/>
          <a:p>
            <a:r>
              <a:t>SAY ONLY THIS SLIDE’S JOB: how we diagnose — not the answer yet.</a:t>
            </a:r>
          </a:p>
          <a:p>
            <a:r>
              <a:t>Walk five lenses A→E. Emphasize decision triggers.</a:t>
            </a:r>
          </a:p>
          <a:p>
            <a:r>
              <a:t>Next slide = what we expect the data to show.</a:t>
            </a:r>
          </a:p>
          <a:p/>
          <a:p>
            <a:r>
              <a:t>GLOSSARY: Win/loss · Gross-margin waterfall · Pull-through · Sunset test.</a:t>
            </a:r>
          </a:p>
          <a:p/>
          <a:p>
            <a:r>
              <a:t>ON-SLIDE TIMER: Budget 1:20 for this slide. Gold bar counts down in Slideshow; red MOVE ON appears when budget ends (does not auto-advance). Prefer presenter-timer.html on a second screen for a live stopwatch that records actual seconds per slide. By end of this slide you should be at ~2:35 of 10:00 (~7:25 remaining).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~1:15</a:t>
            </a:r>
          </a:p>
          <a:p/>
          <a:p>
            <a:r>
              <a:t>SAY: These are illustrative findings — what a healthy diagnostic would likely show given the brief.</a:t>
            </a:r>
          </a:p>
          <a:p>
            <a:r>
              <a:t>All three are commercial. Delivery is not the primary failure mode.</a:t>
            </a:r>
          </a:p>
          <a:p>
            <a:r>
              <a:t>Next slide = evolve / reposition / sunset decision.</a:t>
            </a:r>
          </a:p>
          <a:p/>
          <a:p>
            <a:r>
              <a:t>ON-SLIDE TIMER: Budget 1:20 for this slide. Gold bar counts down in Slideshow; red MOVE ON appears when budget ends (does not auto-advance). Prefer presenter-timer.html on a second screen for a live stopwatch that records actual seconds per slide. By end of this slide you should be at ~3:55 of 10:00 (~6:05 remaining).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~1:15</a:t>
            </a:r>
          </a:p>
          <a:p/>
          <a:p>
            <a:r>
              <a:t>SAY: Recommendation is REPOSITION. Sunset destroys footprint. Evolve-only won’t fix Sales or Deal Desk.</a:t>
            </a:r>
          </a:p>
          <a:p>
            <a:r>
              <a:t>To = Outcome-Tiered Application Operations: Stabilize → Optimize → Transform.</a:t>
            </a:r>
          </a:p>
          <a:p>
            <a:r>
              <a:t>Staffing stays internal; customer buys service class.</a:t>
            </a:r>
          </a:p>
          <a:p>
            <a:r>
              <a:t>Next = how we package and price.</a:t>
            </a:r>
          </a:p>
          <a:p/>
          <a:p>
            <a:r>
              <a:t>ON-SLIDE TIMER: Budget 1:15 for this slide. Gold bar counts down in Slideshow; red MOVE ON appears when budget ends (does not auto-advance). Prefer presenter-timer.html on a second screen for a live stopwatch that records actual seconds per slide. By end of this slide you should be at ~5:10 of 10:00 (~4:50 remaining).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~1:30</a:t>
            </a:r>
          </a:p>
          <a:p/>
          <a:p>
            <a:r>
              <a:t>Walk Stabilize → Optimize → Transform as Sales ladder.</a:t>
            </a:r>
          </a:p>
          <a:p>
            <a:r>
              <a:t>Mandatory priced knowledge transfer. Multi-vendor = optional pack only.</a:t>
            </a:r>
          </a:p>
          <a:p/>
          <a:p>
            <a:r>
              <a:t>ON-SLIDE TIMER: Budget 1:25 for this slide. Gold bar counts down in Slideshow; red MOVE ON appears when budget ends (does not auto-advance). Prefer presenter-timer.html on a second screen for a live stopwatch that records actual seconds per slide. By end of this slide you should be at ~6:35 of 10:00 (~3:25 remaining).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~1:15</a:t>
            </a:r>
          </a:p>
          <a:p/>
          <a:p>
            <a:r>
              <a:t>Three hard rules: floor GM, mandatory KT, ±15% regional variance.</a:t>
            </a:r>
          </a:p>
          <a:p>
            <a:r>
              <a:t>Fund commercial assets before tooling. Explicit stop list.</a:t>
            </a:r>
          </a:p>
          <a:p/>
          <a:p>
            <a:r>
              <a:t>ON-SLIDE TIMER: Budget 1:15 for this slide. Gold bar counts down in Slideshow; red MOVE ON appears when budget ends (does not auto-advance). Prefer presenter-timer.html on a second screen for a live stopwatch that records actual seconds per slide. By end of this slide you should be at ~7:50 of 10:00 (~2:10 remaining).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~1:00</a:t>
            </a:r>
          </a:p>
          <a:p/>
          <a:p>
            <a:r>
              <a:t>Name owners. Scoreboard = how leadership knows it worked. Pricing Council = continuous refinement.</a:t>
            </a:r>
          </a:p>
          <a:p/>
          <a:p>
            <a:r>
              <a:t>ON-SLIDE TIMER: Budget 1:05 for this slide. Gold bar counts down in Slideshow; red MOVE ON appears when budget ends (does not auto-advance). Prefer presenter-timer.html on a second screen for a live stopwatch that records actual seconds per slide. By end of this slide you should be at ~8:55 of 10:00 (~1:05 remaining).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~1:00 then Q&amp;A</a:t>
            </a:r>
          </a:p>
          <a:p/>
          <a:p>
            <a:r>
              <a:t>Restate call. Point at the four-step thought process on the left — that is the interview signal.</a:t>
            </a:r>
          </a:p>
          <a:p>
            <a:r>
              <a:t>Then four asks. Hand to questions.</a:t>
            </a:r>
          </a:p>
          <a:p/>
          <a:p>
            <a:r>
              <a:t>Q&amp;A prep same as before (sunset / deal size / rate card / Finance / consolidation optional).</a:t>
            </a:r>
          </a:p>
          <a:p/>
          <a:p>
            <a:r>
              <a:t>ON-SLIDE TIMER: Budget 1:05 for this slide. Gold bar counts down in Slideshow; red MOVE ON appears when budget ends (does not auto-advance). Prefer presenter-timer.html on a second screen for a live stopwatch that records actual seconds per slide. By end of this slide you should be at ~10:00 of 10:00 (~0:00 remaining).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155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58A6FF"/>
                </a:solidFill>
                <a:latin typeface="Calibri"/>
              </a:rPr>
              <a:t>STRATEGIC PRODUCT MANAGER  ·  CASE STUDY 1  ·  10-MINUTE COMMERCIAL BRIEF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38912"/>
            <a:ext cx="8869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D4A853"/>
                </a:solidFill>
                <a:latin typeface="Calibri"/>
              </a:rPr>
              <a:t>Reposition an underperforming portfolio offering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97280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8B9CB3"/>
                </a:solidFill>
                <a:latin typeface="Calibri"/>
              </a:rPr>
              <a:t>Application Managed Services: strong technical delivery, but commercially stuck — flat net sales, declining gross margin, Sales cannot articulate value, inconsistent regional pricing.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783080"/>
            <a:ext cx="3566160" cy="132588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892808"/>
            <a:ext cx="32918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8B9CB3"/>
                </a:solidFill>
                <a:latin typeface="Calibri"/>
              </a:rPr>
              <a:t>NET SALES (2 YEARS)</a:t>
            </a:r>
          </a:p>
          <a:p>
            <a:pPr algn="ctr">
              <a:spcAft>
                <a:spcPts val="200"/>
              </a:spcAft>
            </a:pPr>
            <a:r>
              <a:rPr sz="2200" b="1">
                <a:solidFill>
                  <a:srgbClr val="8B9CB3"/>
                </a:solidFill>
                <a:latin typeface="Calibri"/>
              </a:rPr>
              <a:t>Flat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8B9CB3"/>
                </a:solidFill>
                <a:latin typeface="Calibri"/>
              </a:rPr>
              <a:t>Weak conversion · little attach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783080"/>
            <a:ext cx="3566160" cy="132588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34840" y="1892808"/>
            <a:ext cx="32918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8B9CB3"/>
                </a:solidFill>
                <a:latin typeface="Calibri"/>
              </a:rPr>
              <a:t>GROSS MARGIN (ILLUSTRATIVE)</a:t>
            </a:r>
          </a:p>
          <a:p>
            <a:pPr algn="ctr">
              <a:spcAft>
                <a:spcPts val="200"/>
              </a:spcAft>
            </a:pPr>
            <a:r>
              <a:rPr sz="2200" b="1">
                <a:solidFill>
                  <a:srgbClr val="F87171"/>
                </a:solidFill>
                <a:latin typeface="Calibri"/>
              </a:rPr>
              <a:t>28% → 22–24%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8B9CB3"/>
                </a:solidFill>
                <a:latin typeface="Calibri"/>
              </a:rPr>
              <a:t>−4 to −6 percentage points over 2 years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1783080"/>
            <a:ext cx="3566160" cy="132588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892808"/>
            <a:ext cx="32918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8B9CB3"/>
                </a:solidFill>
                <a:latin typeface="Calibri"/>
              </a:rPr>
              <a:t>DELIVERY SATISFACTION</a:t>
            </a:r>
          </a:p>
          <a:p>
            <a:pPr algn="ctr">
              <a:spcAft>
                <a:spcPts val="200"/>
              </a:spcAft>
            </a:pPr>
            <a:r>
              <a:rPr sz="2200" b="1">
                <a:solidFill>
                  <a:srgbClr val="3FB950"/>
                </a:solidFill>
                <a:latin typeface="Calibri"/>
              </a:rPr>
              <a:t>Strong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8B9CB3"/>
                </a:solidFill>
                <a:latin typeface="Calibri"/>
              </a:rPr>
              <a:t>Execution is not the failure mode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337560"/>
            <a:ext cx="11155680" cy="105156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47472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58A6FF"/>
                </a:solidFill>
                <a:latin typeface="Calibri"/>
              </a:rPr>
              <a:t>EXECUTIVE FRAMING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Commercial / go-to-market problem — not a delivery turnaround. Sold as headcount; buyers purchase outcomes, cost predictability, and risk reduction. Leadership asks: evolve, reposition, or sunset.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617720"/>
            <a:ext cx="111556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>
                <a:solidFill>
                  <a:srgbClr val="D4A853"/>
                </a:solidFill>
                <a:latin typeface="Calibri"/>
              </a:rPr>
              <a:t>STORYLINE  ·  ONE STAGE PER SLIDE  ·  10 MIN + 5 MIN QUESTIONS</a:t>
            </a:r>
          </a:p>
          <a:p>
            <a:pPr algn="l">
              <a:spcAft>
                <a:spcPts val="300"/>
              </a:spcAft>
            </a:pPr>
            <a:r>
              <a:rPr sz="1400" b="1">
                <a:solidFill>
                  <a:srgbClr val="E6EDF3"/>
                </a:solidFill>
                <a:latin typeface="Calibri"/>
              </a:rPr>
              <a:t>1  Five-lens diagnosis</a:t>
            </a:r>
          </a:p>
          <a:p>
            <a:pPr algn="l">
              <a:spcAft>
                <a:spcPts val="300"/>
              </a:spcAft>
            </a:pPr>
            <a:r>
              <a:rPr sz="1400" b="1">
                <a:solidFill>
                  <a:srgbClr val="E6EDF3"/>
                </a:solidFill>
                <a:latin typeface="Calibri"/>
              </a:rPr>
              <a:t>2  Illustrative findings (what the data would show)</a:t>
            </a:r>
          </a:p>
          <a:p>
            <a:pPr algn="l">
              <a:spcAft>
                <a:spcPts val="300"/>
              </a:spcAft>
            </a:pPr>
            <a:r>
              <a:rPr sz="1400" b="1">
                <a:solidFill>
                  <a:srgbClr val="E6EDF3"/>
                </a:solidFill>
                <a:latin typeface="Calibri"/>
              </a:rPr>
              <a:t>3  Decision framework → Reposition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E6EDF3"/>
                </a:solidFill>
                <a:latin typeface="Calibri"/>
              </a:rPr>
              <a:t>4  Package &amp; price   ·   5  Guardrails &amp; invest   ·   6  Align &amp; measure   ·   7  Ask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8B9CB3"/>
                </a:solidFill>
                <a:latin typeface="Calibri"/>
              </a:rPr>
              <a:t>Top-right SLIDE BUDGET + gold bar countdown; red MOVE ON when budget ends (Slideshow).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8B9CB3"/>
                </a:solidFill>
                <a:latin typeface="Calibri"/>
              </a:rPr>
              <a:t>For a live stopwatch that records actual seconds/slide: open presenter-timer.html on a second screen.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9224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Case Study 1 · Reposition underperforming offering · Gaurav Chaudhary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492240"/>
            <a:ext cx="1188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1 / 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46920" y="164592"/>
            <a:ext cx="2331720" cy="868680"/>
          </a:xfrm>
          <a:prstGeom prst="roundRect">
            <a:avLst>
              <a:gd name="adj" fmla="val 12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646920" y="164592"/>
            <a:ext cx="73152" cy="868680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11512" y="219456"/>
            <a:ext cx="207568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8B9CB3"/>
                </a:solidFill>
                <a:latin typeface="Calibri"/>
              </a:rPr>
              <a:t>SLIDE BUDGET</a:t>
            </a:r>
          </a:p>
          <a:p>
            <a:pPr algn="l">
              <a:spcAft>
                <a:spcPts val="0"/>
              </a:spcAft>
            </a:pPr>
            <a:r>
              <a:rPr sz="2600" b="1">
                <a:solidFill>
                  <a:srgbClr val="D4A853"/>
                </a:solidFill>
                <a:latin typeface="Calibri"/>
              </a:rPr>
              <a:t>1:15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8B9CB3"/>
                </a:solidFill>
                <a:latin typeface="Calibri"/>
              </a:rPr>
              <a:t>by end 1:15 · left 8:45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961888"/>
            <a:ext cx="11155680" cy="109728"/>
          </a:xfrm>
          <a:prstGeom prst="roundRect">
            <a:avLst>
              <a:gd name="adj" fmla="val 50000"/>
            </a:avLst>
          </a:prstGeom>
          <a:solidFill>
            <a:srgbClr val="243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02920" y="5961888"/>
            <a:ext cx="11155680" cy="109728"/>
          </a:xfrm>
          <a:prstGeom prst="roundRect">
            <a:avLst>
              <a:gd name="adj" fmla="val 50000"/>
            </a:avLst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5760720"/>
            <a:ext cx="5029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8B9CB3"/>
                </a:solidFill>
                <a:latin typeface="Calibri"/>
              </a:rPr>
              <a:t>Countdown starts in Slideshow · red MOVE ON appears when budget ends · does not auto-advance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89720" y="5614416"/>
            <a:ext cx="2468880" cy="292608"/>
          </a:xfrm>
          <a:prstGeom prst="roundRect">
            <a:avLst>
              <a:gd name="adj" fmla="val 20000"/>
            </a:avLst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E6EDF3"/>
                </a:solidFill>
                <a:latin typeface="Calibri"/>
              </a:rPr>
              <a:t>MOVE ON  →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/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hidden"/>
                                </p:to>
                              </p:set>
                              <p:animEffect transition="out" filter="wipe(left)">
                                <p:cBhvr>
                                  <p:cTn id="6" dur="75000" fill="hold"/>
                                  <p:tgtEl>
                                    <p:spTgt spid="21"/>
                                  </p:tgtEl>
                                </p:cBhvr>
                              </p:animEffect>
                              <p:animEffect transition="in" filter="fade">
                                <p:cBhvr>
                                  <p:cTn id="7" dur="400" fill="hold">
                                    <p:stCondLst>
                                      <p:cond delay="75000"/>
                                    </p:stCondLst>
                                  </p:cTn>
                                  <p:tgtEl>
                                    <p:spTgt spid="23"/>
                                  </p:tgtEl>
                                </p:cBhvr>
                              </p:animEffect>
                              <p:set>
                                <p:cBhvr>
                                  <p:cTn id="8" dur="1" fill="hold">
                                    <p:stCondLst>
                                      <p:cond delay="7500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155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58A6FF"/>
                </a:solidFill>
                <a:latin typeface="Calibri"/>
              </a:rPr>
              <a:t>STORYLINE STEP 1 OF 7  ·  GATHER EVIDENCE BEFORE ANY PORTFOLIO CALL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38912"/>
            <a:ext cx="8869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D4A853"/>
                </a:solidFill>
                <a:latin typeface="Calibri"/>
              </a:rPr>
              <a:t>Five-lens diagnosis — what we would gather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051560"/>
            <a:ext cx="2377440" cy="38404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051560"/>
            <a:ext cx="73152" cy="384048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097280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58A6FF"/>
                </a:solidFill>
                <a:latin typeface="Calibri"/>
              </a:rPr>
              <a:t>STAGE 1  ·  FIVE-LENS DIAGNOSIS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63240" y="1097280"/>
            <a:ext cx="8595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8B9CB3"/>
                </a:solidFill>
                <a:latin typeface="Calibri"/>
              </a:rPr>
              <a:t>Four-week commercial diagnostic · parallel workstreams · one steering forum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91640"/>
            <a:ext cx="2148840" cy="3977639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691640"/>
            <a:ext cx="2148840" cy="73152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" y="1920240"/>
            <a:ext cx="1920240" cy="3611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200" b="1">
                <a:solidFill>
                  <a:srgbClr val="58A6FF"/>
                </a:solidFill>
                <a:latin typeface="Calibri"/>
              </a:rPr>
              <a:t>A  WIN / LOSS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15–20 deals. Tag losses: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price-only vs value unclear.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Trigger: value unclear &gt;30% → positioning broken.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88920" y="1691640"/>
            <a:ext cx="2148840" cy="3977639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88920" y="1691640"/>
            <a:ext cx="2148840" cy="73152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98648" y="1920240"/>
            <a:ext cx="1920240" cy="3611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200" b="1">
                <a:solidFill>
                  <a:srgbClr val="58A6FF"/>
                </a:solidFill>
                <a:latin typeface="Calibri"/>
              </a:rPr>
              <a:t>B  MARGIN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Gross-margin waterfall: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discount · transition overrun ·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unpaid scope. Trigger: discount-led bleed → guardrails.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74920" y="1691640"/>
            <a:ext cx="2148840" cy="3977639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74920" y="1691640"/>
            <a:ext cx="2148840" cy="73152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84648" y="1920240"/>
            <a:ext cx="1920240" cy="3611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200" b="1">
                <a:solidFill>
                  <a:srgbClr val="58A6FF"/>
                </a:solidFill>
                <a:latin typeface="Calibri"/>
              </a:rPr>
              <a:t>C  COMPETITIVE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Staff augmentation vs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outcome-packaged peers.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Trigger: buyers ask for tiers → reposition.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60920" y="1691640"/>
            <a:ext cx="2148840" cy="3977639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60920" y="1691640"/>
            <a:ext cx="2148840" cy="73152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70648" y="1920240"/>
            <a:ext cx="1920240" cy="3611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200" b="1">
                <a:solidFill>
                  <a:srgbClr val="58A6FF"/>
                </a:solidFill>
                <a:latin typeface="Calibri"/>
              </a:rPr>
              <a:t>D  CUSTOMER VOICE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High satisfaction + low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willingness to pay =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story gap, not execution gap.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46920" y="1691640"/>
            <a:ext cx="2148840" cy="3977639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646920" y="1691640"/>
            <a:ext cx="2148840" cy="73152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56648" y="1920240"/>
            <a:ext cx="1920240" cy="3611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200" b="1">
                <a:solidFill>
                  <a:srgbClr val="58A6FF"/>
                </a:solidFill>
                <a:latin typeface="Calibri"/>
              </a:rPr>
              <a:t>E  PORTFOLIO FIT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18-month margin path?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Strategic pull-through?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Sunset only if both fail.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6199632"/>
            <a:ext cx="1508760" cy="45720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D4A853"/>
                </a:solidFill>
                <a:latin typeface="Calibri"/>
              </a:rPr>
              <a:t>1 Diagnose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121408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121408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2 Findings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739896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739896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3 Decide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358384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358384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4 Package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976872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976872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5 Guardrails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595360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95360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6 Align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213848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213848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7 Ask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49224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Case Study 1 · Reposition underperforming offering · Gaurav Chaudhary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0" y="6492240"/>
            <a:ext cx="1188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2 / 8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646920" y="164592"/>
            <a:ext cx="2331720" cy="868680"/>
          </a:xfrm>
          <a:prstGeom prst="roundRect">
            <a:avLst>
              <a:gd name="adj" fmla="val 12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646920" y="164592"/>
            <a:ext cx="73152" cy="868680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811512" y="219456"/>
            <a:ext cx="207568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8B9CB3"/>
                </a:solidFill>
                <a:latin typeface="Calibri"/>
              </a:rPr>
              <a:t>SLIDE BUDGET</a:t>
            </a:r>
          </a:p>
          <a:p>
            <a:pPr algn="l">
              <a:spcAft>
                <a:spcPts val="0"/>
              </a:spcAft>
            </a:pPr>
            <a:r>
              <a:rPr sz="2600" b="1">
                <a:solidFill>
                  <a:srgbClr val="D4A853"/>
                </a:solidFill>
                <a:latin typeface="Calibri"/>
              </a:rPr>
              <a:t>1:20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8B9CB3"/>
                </a:solidFill>
                <a:latin typeface="Calibri"/>
              </a:rPr>
              <a:t>by end 2:35 · left 7:25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02920" y="5961888"/>
            <a:ext cx="11155680" cy="109728"/>
          </a:xfrm>
          <a:prstGeom prst="roundRect">
            <a:avLst>
              <a:gd name="adj" fmla="val 50000"/>
            </a:avLst>
          </a:prstGeom>
          <a:solidFill>
            <a:srgbClr val="243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02920" y="5961888"/>
            <a:ext cx="11155680" cy="109728"/>
          </a:xfrm>
          <a:prstGeom prst="roundRect">
            <a:avLst>
              <a:gd name="adj" fmla="val 50000"/>
            </a:avLst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2920" y="5760720"/>
            <a:ext cx="5029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8B9CB3"/>
                </a:solidFill>
                <a:latin typeface="Calibri"/>
              </a:rPr>
              <a:t>Countdown starts in Slideshow · red MOVE ON appears when budget ends · does not auto-advance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189720" y="5614416"/>
            <a:ext cx="2468880" cy="292608"/>
          </a:xfrm>
          <a:prstGeom prst="roundRect">
            <a:avLst>
              <a:gd name="adj" fmla="val 20000"/>
            </a:avLst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E6EDF3"/>
                </a:solidFill>
                <a:latin typeface="Calibri"/>
              </a:rPr>
              <a:t>MOVE ON  →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/>
                                  <p:tgtEl>
                                    <p:spTgt spid="4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hidden"/>
                                </p:to>
                              </p:set>
                              <p:animEffect transition="out" filter="wipe(left)">
                                <p:cBhvr>
                                  <p:cTn id="6" dur="80000" fill="hold"/>
                                  <p:tgtEl>
                                    <p:spTgt spid="45"/>
                                  </p:tgtEl>
                                </p:cBhvr>
                              </p:animEffect>
                              <p:animEffect transition="in" filter="fade">
                                <p:cBhvr>
                                  <p:cTn id="7" dur="400" fill="hold">
                                    <p:stCondLst>
                                      <p:cond delay="80000"/>
                                    </p:stCondLst>
                                  </p:cTn>
                                  <p:tgtEl>
                                    <p:spTgt spid="47"/>
                                  </p:tgtEl>
                                </p:cBhvr>
                              </p:animEffect>
                              <p:set>
                                <p:cBhvr>
                                  <p:cTn id="8" dur="1" fill="hold">
                                    <p:stCondLst>
                                      <p:cond delay="80000"/>
                                    </p:stCondLst>
                                  </p:cTn>
                                  <p:tgtEl>
                                    <p:spTgt spid="4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155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58A6FF"/>
                </a:solidFill>
                <a:latin typeface="Calibri"/>
              </a:rPr>
              <a:t>STORYLINE STEP 2 OF 7  ·  ILLUSTRATIVE SYNTHESIS FROM THE DIAGNOSTIC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38912"/>
            <a:ext cx="8869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D4A853"/>
                </a:solidFill>
                <a:latin typeface="Calibri"/>
              </a:rPr>
              <a:t>Likely findings — commercial root causes, not delivery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051560"/>
            <a:ext cx="2377440" cy="38404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051560"/>
            <a:ext cx="73152" cy="384048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097280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87171"/>
                </a:solidFill>
                <a:latin typeface="Calibri"/>
              </a:rPr>
              <a:t>STAGE 2  ·  ILLUSTRATIVE FINDINGS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63240" y="1097280"/>
            <a:ext cx="8595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8B9CB3"/>
                </a:solidFill>
                <a:latin typeface="Calibri"/>
              </a:rPr>
              <a:t>Expected outcome of the five lenses — three reinforcing commercial failures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91640"/>
            <a:ext cx="3611880" cy="3977639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691640"/>
            <a:ext cx="3611880" cy="73152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965960"/>
            <a:ext cx="32461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300" b="1">
                <a:solidFill>
                  <a:srgbClr val="F87171"/>
                </a:solidFill>
                <a:latin typeface="Calibri"/>
              </a:rPr>
              <a:t>1  COMMODITIZED PACKAGING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E6EDF3"/>
                </a:solidFill>
                <a:latin typeface="Calibri"/>
              </a:rPr>
              <a:t>Sold as Level-1 / Level-2 / Level-3 staffing towers.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E6EDF3"/>
                </a:solidFill>
                <a:latin typeface="Calibri"/>
              </a:rPr>
              <a:t>Procurement benches us against systems integrators on rate-per-person.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8B9CB3"/>
                </a:solidFill>
                <a:latin typeface="Calibri"/>
              </a:rPr>
              <a:t>Symptom: flat sales; technical wins die in procurement.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1691640"/>
            <a:ext cx="3611880" cy="3977639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97680" y="1691640"/>
            <a:ext cx="3611880" cy="73152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60" y="1965960"/>
            <a:ext cx="32461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300" b="1">
                <a:solidFill>
                  <a:srgbClr val="F87171"/>
                </a:solidFill>
                <a:latin typeface="Calibri"/>
              </a:rPr>
              <a:t>2  PRICING CHAOS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E6EDF3"/>
                </a:solidFill>
                <a:latin typeface="Calibri"/>
              </a:rPr>
              <a:t>Regions discount ad hoc — no enforceable global floor.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E6EDF3"/>
                </a:solidFill>
                <a:latin typeface="Calibri"/>
              </a:rPr>
              <a:t>Knowledge transfer underpriced; unpaid scope creep.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8B9CB3"/>
                </a:solidFill>
                <a:latin typeface="Calibri"/>
              </a:rPr>
              <a:t>Symptom: margin e.g. 28% → 22–24% while delivery scores hold.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2440" y="1691640"/>
            <a:ext cx="3611880" cy="3977639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92440" y="1691640"/>
            <a:ext cx="3611880" cy="73152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75320" y="1965960"/>
            <a:ext cx="32461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300" b="1">
                <a:solidFill>
                  <a:srgbClr val="F87171"/>
                </a:solidFill>
                <a:latin typeface="Calibri"/>
              </a:rPr>
              <a:t>3  VALUE STORY GAP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E6EDF3"/>
                </a:solidFill>
                <a:latin typeface="Calibri"/>
              </a:rPr>
              <a:t>Buyers want outcomes and predictability.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E6EDF3"/>
                </a:solidFill>
                <a:latin typeface="Calibri"/>
              </a:rPr>
              <a:t>Sales still pitches headcount replacement.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8B9CB3"/>
                </a:solidFill>
                <a:latin typeface="Calibri"/>
              </a:rPr>
              <a:t>Symptom: “Sales cannot explain the value.”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1 Diagnose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121408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121408" y="6199632"/>
            <a:ext cx="1508760" cy="45720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21408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D4A853"/>
                </a:solidFill>
                <a:latin typeface="Calibri"/>
              </a:rPr>
              <a:t>2 Findings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739896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39896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3 Decide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358384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58384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4 Package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76872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76872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5 Guardrails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595360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95360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6 Align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213848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13848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7 Ask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649224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Case Study 1 · Reposition underperforming offering · Gaurav Chaudhary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6492240"/>
            <a:ext cx="1188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3 / 8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646920" y="164592"/>
            <a:ext cx="2331720" cy="868680"/>
          </a:xfrm>
          <a:prstGeom prst="roundRect">
            <a:avLst>
              <a:gd name="adj" fmla="val 12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646920" y="164592"/>
            <a:ext cx="73152" cy="868680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811512" y="219456"/>
            <a:ext cx="207568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8B9CB3"/>
                </a:solidFill>
                <a:latin typeface="Calibri"/>
              </a:rPr>
              <a:t>SLIDE BUDGET</a:t>
            </a:r>
          </a:p>
          <a:p>
            <a:pPr algn="l">
              <a:spcAft>
                <a:spcPts val="0"/>
              </a:spcAft>
            </a:pPr>
            <a:r>
              <a:rPr sz="2600" b="1">
                <a:solidFill>
                  <a:srgbClr val="D4A853"/>
                </a:solidFill>
                <a:latin typeface="Calibri"/>
              </a:rPr>
              <a:t>1:20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8B9CB3"/>
                </a:solidFill>
                <a:latin typeface="Calibri"/>
              </a:rPr>
              <a:t>by end 3:55 · left 6:05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2920" y="5961888"/>
            <a:ext cx="11155680" cy="109728"/>
          </a:xfrm>
          <a:prstGeom prst="roundRect">
            <a:avLst>
              <a:gd name="adj" fmla="val 50000"/>
            </a:avLst>
          </a:prstGeom>
          <a:solidFill>
            <a:srgbClr val="243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502920" y="5961888"/>
            <a:ext cx="11155680" cy="109728"/>
          </a:xfrm>
          <a:prstGeom prst="roundRect">
            <a:avLst>
              <a:gd name="adj" fmla="val 50000"/>
            </a:avLst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2920" y="5760720"/>
            <a:ext cx="5029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8B9CB3"/>
                </a:solidFill>
                <a:latin typeface="Calibri"/>
              </a:rPr>
              <a:t>Countdown starts in Slideshow · red MOVE ON appears when budget ends · does not auto-advance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189720" y="5614416"/>
            <a:ext cx="2468880" cy="292608"/>
          </a:xfrm>
          <a:prstGeom prst="roundRect">
            <a:avLst>
              <a:gd name="adj" fmla="val 20000"/>
            </a:avLst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E6EDF3"/>
                </a:solidFill>
                <a:latin typeface="Calibri"/>
              </a:rPr>
              <a:t>MOVE ON  →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/>
                                  <p:tgtEl>
                                    <p:spTgt spid="4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hidden"/>
                                </p:to>
                              </p:set>
                              <p:animEffect transition="out" filter="wipe(left)">
                                <p:cBhvr>
                                  <p:cTn id="6" dur="80000" fill="hold"/>
                                  <p:tgtEl>
                                    <p:spTgt spid="39"/>
                                  </p:tgtEl>
                                </p:cBhvr>
                              </p:animEffect>
                              <p:animEffect transition="in" filter="fade">
                                <p:cBhvr>
                                  <p:cTn id="7" dur="400" fill="hold">
                                    <p:stCondLst>
                                      <p:cond delay="80000"/>
                                    </p:stCondLst>
                                  </p:cTn>
                                  <p:tgtEl>
                                    <p:spTgt spid="41"/>
                                  </p:tgtEl>
                                </p:cBhvr>
                              </p:animEffect>
                              <p:set>
                                <p:cBhvr>
                                  <p:cTn id="8" dur="1" fill="hold">
                                    <p:stCondLst>
                                      <p:cond delay="80000"/>
                                    </p:stCondLst>
                                  </p:cTn>
                                  <p:tgtEl>
                                    <p:spTgt spid="4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155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58A6FF"/>
                </a:solidFill>
                <a:latin typeface="Calibri"/>
              </a:rPr>
              <a:t>STORYLINE STEP 3 OF 7  ·  PORTFOLIO CALL WITH EXPLICIT TRADE-OFFS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38912"/>
            <a:ext cx="8869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D4A853"/>
                </a:solidFill>
                <a:latin typeface="Calibri"/>
              </a:rPr>
              <a:t>Decision framework → Reposition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051560"/>
            <a:ext cx="2377440" cy="38404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051560"/>
            <a:ext cx="73152" cy="384048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097280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3FB950"/>
                </a:solidFill>
                <a:latin typeface="Calibri"/>
              </a:rPr>
              <a:t>STAGE 3  ·  DECISION FRAMEWORK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63240" y="1097280"/>
            <a:ext cx="8595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8B9CB3"/>
                </a:solidFill>
                <a:latin typeface="Calibri"/>
              </a:rPr>
              <a:t>Choose with trade-offs — then change the sellable unit, not only the tooling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91640"/>
            <a:ext cx="3611880" cy="3977639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965960"/>
            <a:ext cx="32461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600" b="1">
                <a:solidFill>
                  <a:srgbClr val="8B9CB3"/>
                </a:solidFill>
                <a:latin typeface="Calibri"/>
              </a:rPr>
              <a:t>SUNSET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8B9CB3"/>
                </a:solidFill>
                <a:latin typeface="Calibri"/>
              </a:rPr>
              <a:t>•  Rejects delivery DNA and account footprint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8B9CB3"/>
                </a:solidFill>
                <a:latin typeface="Calibri"/>
              </a:rPr>
              <a:t>•  High exit cost; competitors inherit the base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8B9CB3"/>
                </a:solidFill>
                <a:latin typeface="Calibri"/>
              </a:rPr>
              <a:t>•  Use ONLY if no 18-month margin path AND no pull-through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8B9CB3"/>
                </a:solidFill>
                <a:latin typeface="Calibri"/>
              </a:rPr>
              <a:t>•  Not indicated here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691640"/>
            <a:ext cx="3611880" cy="3977639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0" y="1965960"/>
            <a:ext cx="32461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600" b="1">
                <a:solidFill>
                  <a:srgbClr val="8B9CB3"/>
                </a:solidFill>
                <a:latin typeface="Calibri"/>
              </a:rPr>
              <a:t>EVOLVE ONLY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8B9CB3"/>
                </a:solidFill>
                <a:latin typeface="Calibri"/>
              </a:rPr>
              <a:t>•  More tooling / process — same sellable unit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8B9CB3"/>
                </a:solidFill>
                <a:latin typeface="Calibri"/>
              </a:rPr>
              <a:t>•  Does not fix Sales narrative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8B9CB3"/>
                </a:solidFill>
                <a:latin typeface="Calibri"/>
              </a:rPr>
              <a:t>•  Does not fix regional pricing chaos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8B9CB3"/>
                </a:solidFill>
                <a:latin typeface="Calibri"/>
              </a:rPr>
              <a:t>•  Necessary later; insufficient alone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2440" y="1691640"/>
            <a:ext cx="3611880" cy="3977639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092440" y="1691640"/>
            <a:ext cx="3611880" cy="3977639"/>
          </a:xfrm>
          <a:prstGeom prst="roundRect">
            <a:avLst>
              <a:gd name="adj" fmla="val 8000"/>
            </a:avLst>
          </a:prstGeom>
          <a:noFill/>
          <a:ln w="31750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5320" y="1965960"/>
            <a:ext cx="32461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600" b="1">
                <a:solidFill>
                  <a:srgbClr val="3FB950"/>
                </a:solidFill>
                <a:latin typeface="Calibri"/>
              </a:rPr>
              <a:t>REPOSITION  ✓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•  Outcome-tiered Application Operations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•  Stabilize → Optimize → Transform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•  Evolve modules selectively underneath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•  Accepted trade-off: near-term deal size may dip; attach + renewals recover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1 Diagnose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121408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121408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2 Findings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739896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739896" y="6199632"/>
            <a:ext cx="1508760" cy="45720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739896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D4A853"/>
                </a:solidFill>
                <a:latin typeface="Calibri"/>
              </a:rPr>
              <a:t>3 Decide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358384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58384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4 Package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76872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76872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5 Guardrails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595360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95360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6 Align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213848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213848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7 Ask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9224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Case Study 1 · Reposition underperforming offering · Gaurav Chaudhary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6492240"/>
            <a:ext cx="1188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4 / 8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646920" y="164592"/>
            <a:ext cx="2331720" cy="868680"/>
          </a:xfrm>
          <a:prstGeom prst="roundRect">
            <a:avLst>
              <a:gd name="adj" fmla="val 12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646920" y="164592"/>
            <a:ext cx="73152" cy="868680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811512" y="219456"/>
            <a:ext cx="207568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8B9CB3"/>
                </a:solidFill>
                <a:latin typeface="Calibri"/>
              </a:rPr>
              <a:t>SLIDE BUDGET</a:t>
            </a:r>
          </a:p>
          <a:p>
            <a:pPr algn="l">
              <a:spcAft>
                <a:spcPts val="0"/>
              </a:spcAft>
            </a:pPr>
            <a:r>
              <a:rPr sz="2600" b="1">
                <a:solidFill>
                  <a:srgbClr val="D4A853"/>
                </a:solidFill>
                <a:latin typeface="Calibri"/>
              </a:rPr>
              <a:t>1:15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8B9CB3"/>
                </a:solidFill>
                <a:latin typeface="Calibri"/>
              </a:rPr>
              <a:t>by end 5:10 · left 4:50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920" y="5961888"/>
            <a:ext cx="11155680" cy="109728"/>
          </a:xfrm>
          <a:prstGeom prst="roundRect">
            <a:avLst>
              <a:gd name="adj" fmla="val 50000"/>
            </a:avLst>
          </a:prstGeom>
          <a:solidFill>
            <a:srgbClr val="243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502920" y="5961888"/>
            <a:ext cx="11155680" cy="109728"/>
          </a:xfrm>
          <a:prstGeom prst="roundRect">
            <a:avLst>
              <a:gd name="adj" fmla="val 50000"/>
            </a:avLst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2920" y="5760720"/>
            <a:ext cx="5029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8B9CB3"/>
                </a:solidFill>
                <a:latin typeface="Calibri"/>
              </a:rPr>
              <a:t>Countdown starts in Slideshow · red MOVE ON appears when budget ends · does not auto-advance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89720" y="5614416"/>
            <a:ext cx="2468880" cy="292608"/>
          </a:xfrm>
          <a:prstGeom prst="roundRect">
            <a:avLst>
              <a:gd name="adj" fmla="val 20000"/>
            </a:avLst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E6EDF3"/>
                </a:solidFill>
                <a:latin typeface="Calibri"/>
              </a:rPr>
              <a:t>MOVE ON  →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/>
                                  <p:tgtEl>
                                    <p:spTgt spid="3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hidden"/>
                                </p:to>
                              </p:set>
                              <p:animEffect transition="out" filter="wipe(left)">
                                <p:cBhvr>
                                  <p:cTn id="6" dur="75000" fill="hold"/>
                                  <p:tgtEl>
                                    <p:spTgt spid="37"/>
                                  </p:tgtEl>
                                </p:cBhvr>
                              </p:animEffect>
                              <p:animEffect transition="in" filter="fade">
                                <p:cBhvr>
                                  <p:cTn id="7" dur="400" fill="hold">
                                    <p:stCondLst>
                                      <p:cond delay="75000"/>
                                    </p:stCondLst>
                                  </p:cTn>
                                  <p:tgtEl>
                                    <p:spTgt spid="39"/>
                                  </p:tgtEl>
                                </p:cBhvr>
                              </p:animEffect>
                              <p:set>
                                <p:cBhvr>
                                  <p:cTn id="8" dur="1" fill="hold">
                                    <p:stCondLst>
                                      <p:cond delay="75000"/>
                                    </p:stCondLst>
                                  </p:cTn>
                                  <p:tgtEl>
                                    <p:spTgt spid="3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155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58A6FF"/>
                </a:solidFill>
                <a:latin typeface="Calibri"/>
              </a:rPr>
              <a:t>STORYLINE STEP 4 OF 7  ·  IF REPOSITIONING — REVISED PACKAGING AND PRICING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38912"/>
            <a:ext cx="8869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D4A853"/>
                </a:solidFill>
                <a:latin typeface="Calibri"/>
              </a:rPr>
              <a:t>Sell tiers and outcomes — not staffing towers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051560"/>
            <a:ext cx="2377440" cy="38404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051560"/>
            <a:ext cx="73152" cy="384048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097280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D4A853"/>
                </a:solidFill>
                <a:latin typeface="Calibri"/>
              </a:rPr>
              <a:t>STAGE 4  ·  PACKAGE &amp; PRICE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645920"/>
            <a:ext cx="3611880" cy="324612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645920"/>
            <a:ext cx="3611880" cy="73152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874519"/>
            <a:ext cx="3246120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D4A853"/>
                </a:solidFill>
                <a:latin typeface="Calibri"/>
              </a:rPr>
              <a:t>STABILIZE</a:t>
            </a:r>
          </a:p>
          <a:p>
            <a:pPr algn="l">
              <a:spcAft>
                <a:spcPts val="1000"/>
              </a:spcAft>
            </a:pPr>
            <a:r>
              <a:rPr sz="1300" b="1">
                <a:solidFill>
                  <a:srgbClr val="D4A853"/>
                </a:solidFill>
                <a:latin typeface="Calibri"/>
              </a:rPr>
              <a:t>Restore control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•  Backlog · service-level baseline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•  Single accountability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•  Platform fee + criticality class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•  Floor gross margin ≥ 22%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645920"/>
            <a:ext cx="3611880" cy="324612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97680" y="1645920"/>
            <a:ext cx="3611880" cy="73152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0560" y="1874519"/>
            <a:ext cx="3246120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58A6FF"/>
                </a:solidFill>
                <a:latin typeface="Calibri"/>
              </a:rPr>
              <a:t>OPTIMIZE</a:t>
            </a:r>
          </a:p>
          <a:p>
            <a:pPr algn="l">
              <a:spcAft>
                <a:spcPts val="1000"/>
              </a:spcAft>
            </a:pPr>
            <a:r>
              <a:rPr sz="1300" b="1">
                <a:solidFill>
                  <a:srgbClr val="D4A853"/>
                </a:solidFill>
                <a:latin typeface="Calibri"/>
              </a:rPr>
              <a:t>Prove efficiency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•  + Monitoring / automation packs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•  Outcome-band vs service levels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•  Optional gain-share on savings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•  Floor gross margin ≥ 26%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2440" y="1645920"/>
            <a:ext cx="3611880" cy="324612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92440" y="1645920"/>
            <a:ext cx="3611880" cy="73152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20" y="1874519"/>
            <a:ext cx="3246120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3FB950"/>
                </a:solidFill>
                <a:latin typeface="Calibri"/>
              </a:rPr>
              <a:t>TRANSFORM</a:t>
            </a:r>
          </a:p>
          <a:p>
            <a:pPr algn="l">
              <a:spcAft>
                <a:spcPts val="1000"/>
              </a:spcAft>
            </a:pPr>
            <a:r>
              <a:rPr sz="1300" b="1">
                <a:solidFill>
                  <a:srgbClr val="D4A853"/>
                </a:solidFill>
                <a:latin typeface="Calibri"/>
              </a:rPr>
              <a:t>Operating-model uplift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•  + Continuous improvement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•  Milestone elements (Finance OK)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•  Executive scorecard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•  Floor gross margin ≥ 28%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074920"/>
            <a:ext cx="11155680" cy="86868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5166360"/>
            <a:ext cx="10789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58A6FF"/>
                </a:solidFill>
                <a:latin typeface="Calibri"/>
              </a:rPr>
              <a:t>ATTACH PACKS  ·  PRICED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Mandatory: knowledge-transfer on new logos. Optional: top-offender sprint · monitoring jump-start. Multi-vendor governance — ONLY when win/loss shows demand (not required for reposition).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1 Diagnose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121408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21408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2 Findings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739896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39896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3 Decide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358384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358384" y="6199632"/>
            <a:ext cx="1508760" cy="45720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58384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D4A853"/>
                </a:solidFill>
                <a:latin typeface="Calibri"/>
              </a:rPr>
              <a:t>4 Package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976872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76872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5 Guardrails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595360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95360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6 Align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213848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213848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7 Ask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649224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Case Study 1 · Reposition underperforming offering · Gaurav Chaudhary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0" y="6492240"/>
            <a:ext cx="1188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5 / 8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646920" y="164592"/>
            <a:ext cx="2331720" cy="868680"/>
          </a:xfrm>
          <a:prstGeom prst="roundRect">
            <a:avLst>
              <a:gd name="adj" fmla="val 12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646920" y="164592"/>
            <a:ext cx="73152" cy="868680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811512" y="219456"/>
            <a:ext cx="207568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8B9CB3"/>
                </a:solidFill>
                <a:latin typeface="Calibri"/>
              </a:rPr>
              <a:t>SLIDE BUDGET</a:t>
            </a:r>
          </a:p>
          <a:p>
            <a:pPr algn="l">
              <a:spcAft>
                <a:spcPts val="0"/>
              </a:spcAft>
            </a:pPr>
            <a:r>
              <a:rPr sz="2600" b="1">
                <a:solidFill>
                  <a:srgbClr val="D4A853"/>
                </a:solidFill>
                <a:latin typeface="Calibri"/>
              </a:rPr>
              <a:t>1:25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8B9CB3"/>
                </a:solidFill>
                <a:latin typeface="Calibri"/>
              </a:rPr>
              <a:t>by end 6:35 · left 3:25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2920" y="5961888"/>
            <a:ext cx="11155680" cy="109728"/>
          </a:xfrm>
          <a:prstGeom prst="roundRect">
            <a:avLst>
              <a:gd name="adj" fmla="val 50000"/>
            </a:avLst>
          </a:prstGeom>
          <a:solidFill>
            <a:srgbClr val="243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502920" y="5961888"/>
            <a:ext cx="11155680" cy="109728"/>
          </a:xfrm>
          <a:prstGeom prst="roundRect">
            <a:avLst>
              <a:gd name="adj" fmla="val 50000"/>
            </a:avLst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2920" y="5760720"/>
            <a:ext cx="5029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8B9CB3"/>
                </a:solidFill>
                <a:latin typeface="Calibri"/>
              </a:rPr>
              <a:t>Countdown starts in Slideshow · red MOVE ON appears when budget ends · does not auto-advance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189720" y="5614416"/>
            <a:ext cx="2468880" cy="292608"/>
          </a:xfrm>
          <a:prstGeom prst="roundRect">
            <a:avLst>
              <a:gd name="adj" fmla="val 20000"/>
            </a:avLst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E6EDF3"/>
                </a:solidFill>
                <a:latin typeface="Calibri"/>
              </a:rPr>
              <a:t>MOVE ON  →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/>
                                  <p:tgtEl>
                                    <p:spTgt spid="4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hidden"/>
                                </p:to>
                              </p:set>
                              <p:animEffect transition="out" filter="wipe(left)">
                                <p:cBhvr>
                                  <p:cTn id="6" dur="85000" fill="hold"/>
                                  <p:tgtEl>
                                    <p:spTgt spid="40"/>
                                  </p:tgtEl>
                                </p:cBhvr>
                              </p:animEffect>
                              <p:animEffect transition="in" filter="fade">
                                <p:cBhvr>
                                  <p:cTn id="7" dur="400" fill="hold">
                                    <p:stCondLst>
                                      <p:cond delay="85000"/>
                                    </p:stCondLst>
                                  </p:cTn>
                                  <p:tgtEl>
                                    <p:spTgt spid="42"/>
                                  </p:tgtEl>
                                </p:cBhvr>
                              </p:animEffect>
                              <p:set>
                                <p:cBhvr>
                                  <p:cTn id="8" dur="1" fill="hold">
                                    <p:stCondLst>
                                      <p:cond delay="85000"/>
                                    </p:stCondLst>
                                  </p:cTn>
                                  <p:tgtEl>
                                    <p:spTgt spid="4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155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58A6FF"/>
                </a:solidFill>
                <a:latin typeface="Calibri"/>
              </a:rPr>
              <a:t>STORYLINE STEP 5 OF 7  ·  COMMERCIAL DISCIPLINE AND INVESTMENT SEQUENCE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38912"/>
            <a:ext cx="8869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D4A853"/>
                </a:solidFill>
                <a:latin typeface="Calibri"/>
              </a:rPr>
              <a:t>Deal Desk rules that stop the bleed — fund return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051560"/>
            <a:ext cx="2377440" cy="38404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051560"/>
            <a:ext cx="73152" cy="384048"/>
          </a:xfrm>
          <a:prstGeom prst="rect">
            <a:avLst/>
          </a:prstGeom>
          <a:solidFill>
            <a:srgbClr val="A371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097280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A371F7"/>
                </a:solidFill>
                <a:latin typeface="Calibri"/>
              </a:rPr>
              <a:t>STAGE 5  ·  GUARDRAILS &amp; INVEST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645920"/>
            <a:ext cx="5760720" cy="411480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783080"/>
            <a:ext cx="53949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300" b="1">
                <a:solidFill>
                  <a:srgbClr val="D4A853"/>
                </a:solidFill>
                <a:latin typeface="Calibri"/>
              </a:rPr>
              <a:t>PRICING GUARDRAILS</a:t>
            </a:r>
          </a:p>
          <a:p>
            <a:pPr algn="l">
              <a:spcAft>
                <a:spcPts val="100"/>
              </a:spcAft>
            </a:pPr>
            <a:r>
              <a:rPr sz="1200" b="1">
                <a:solidFill>
                  <a:srgbClr val="58A6FF"/>
                </a:solidFill>
                <a:latin typeface="Calibri"/>
              </a:rPr>
              <a:t>Floor gross margin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Stabilize ≥22% · Optimize ≥26% · Transform ≥28%</a:t>
            </a:r>
          </a:p>
          <a:p>
            <a:pPr algn="l">
              <a:spcAft>
                <a:spcPts val="100"/>
              </a:spcAft>
            </a:pPr>
            <a:r>
              <a:rPr sz="1200" b="1">
                <a:solidFill>
                  <a:srgbClr val="58A6FF"/>
                </a:solidFill>
                <a:latin typeface="Calibri"/>
              </a:rPr>
              <a:t>Maximum discount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≤12% off list (≤8% renewals) — trade scope / term</a:t>
            </a:r>
          </a:p>
          <a:p>
            <a:pPr algn="l">
              <a:spcAft>
                <a:spcPts val="100"/>
              </a:spcAft>
            </a:pPr>
            <a:r>
              <a:rPr sz="1200" b="1">
                <a:solidFill>
                  <a:srgbClr val="58A6FF"/>
                </a:solidFill>
                <a:latin typeface="Calibri"/>
              </a:rPr>
              <a:t>Transition pricing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Knowledge-transfer mandatory · min 8% Year-1 value</a:t>
            </a:r>
          </a:p>
          <a:p>
            <a:pPr algn="l">
              <a:spcAft>
                <a:spcPts val="100"/>
              </a:spcAft>
            </a:pPr>
            <a:r>
              <a:rPr sz="1200" b="1">
                <a:solidFill>
                  <a:srgbClr val="58A6FF"/>
                </a:solidFill>
                <a:latin typeface="Calibri"/>
              </a:rPr>
              <a:t>Scope change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Unpaid work cap 2% of annual contract value</a:t>
            </a:r>
          </a:p>
          <a:p>
            <a:pPr algn="l">
              <a:spcAft>
                <a:spcPts val="100"/>
              </a:spcAft>
            </a:pPr>
            <a:r>
              <a:rPr sz="1200" b="1">
                <a:solidFill>
                  <a:srgbClr val="58A6FF"/>
                </a:solidFill>
                <a:latin typeface="Calibri"/>
              </a:rPr>
              <a:t>Regional variance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Like-for-like within ±15% of global rate card</a:t>
            </a:r>
          </a:p>
          <a:p>
            <a:pPr algn="l">
              <a:spcAft>
                <a:spcPts val="100"/>
              </a:spcAft>
            </a:pPr>
            <a:r>
              <a:rPr sz="1200" b="1">
                <a:solidFill>
                  <a:srgbClr val="58A6FF"/>
                </a:solidFill>
                <a:latin typeface="Calibri"/>
              </a:rPr>
              <a:t>Credits / penalties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Soft-ramp M1–6 · Finance revenue-recognition OK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46520" y="1645920"/>
            <a:ext cx="5212080" cy="228600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29400" y="1783080"/>
            <a:ext cx="4846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3FB950"/>
                </a:solidFill>
                <a:latin typeface="Calibri"/>
              </a:rPr>
              <a:t>FUND FIRST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▸  Q1: Rate card · tiers · Deal Desk toolkit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▸  Q2: Service-level catalogue · 2 pilots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▸  Q3–4: Packs · renewal step-up · scale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▸  Year 2: Retire headcount-only contracts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46520" y="4114800"/>
            <a:ext cx="5212080" cy="164592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9400" y="4251960"/>
            <a:ext cx="4846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F87171"/>
                </a:solidFill>
                <a:latin typeface="Calibri"/>
              </a:rPr>
              <a:t>STOP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×  Custom tooling per account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×  Below-floor proofs of concept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×  Regional bespoke rate cards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×  Rebrand without Sales kit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1 Diagnose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121408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21408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2 Findings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739896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39896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3 Decide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58384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58384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4 Package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76872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76872" y="6199632"/>
            <a:ext cx="1508760" cy="45720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76872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D4A853"/>
                </a:solidFill>
                <a:latin typeface="Calibri"/>
              </a:rPr>
              <a:t>5 Guardrails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595360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0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6 Align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213848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213848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7 Ask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9224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Case Study 1 · Reposition underperforming offering · Gaurav Chaudhary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6492240"/>
            <a:ext cx="1188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6 / 8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646920" y="164592"/>
            <a:ext cx="2331720" cy="868680"/>
          </a:xfrm>
          <a:prstGeom prst="roundRect">
            <a:avLst>
              <a:gd name="adj" fmla="val 12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646920" y="164592"/>
            <a:ext cx="73152" cy="868680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811512" y="219456"/>
            <a:ext cx="207568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8B9CB3"/>
                </a:solidFill>
                <a:latin typeface="Calibri"/>
              </a:rPr>
              <a:t>SLIDE BUDGET</a:t>
            </a:r>
          </a:p>
          <a:p>
            <a:pPr algn="l">
              <a:spcAft>
                <a:spcPts val="0"/>
              </a:spcAft>
            </a:pPr>
            <a:r>
              <a:rPr sz="2600" b="1">
                <a:solidFill>
                  <a:srgbClr val="D4A853"/>
                </a:solidFill>
                <a:latin typeface="Calibri"/>
              </a:rPr>
              <a:t>1:15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8B9CB3"/>
                </a:solidFill>
                <a:latin typeface="Calibri"/>
              </a:rPr>
              <a:t>by end 7:50 · left 2:10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2920" y="5961888"/>
            <a:ext cx="11155680" cy="109728"/>
          </a:xfrm>
          <a:prstGeom prst="roundRect">
            <a:avLst>
              <a:gd name="adj" fmla="val 50000"/>
            </a:avLst>
          </a:prstGeom>
          <a:solidFill>
            <a:srgbClr val="243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02920" y="5961888"/>
            <a:ext cx="11155680" cy="109728"/>
          </a:xfrm>
          <a:prstGeom prst="roundRect">
            <a:avLst>
              <a:gd name="adj" fmla="val 50000"/>
            </a:avLst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" y="5760720"/>
            <a:ext cx="5029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8B9CB3"/>
                </a:solidFill>
                <a:latin typeface="Calibri"/>
              </a:rPr>
              <a:t>Countdown starts in Slideshow · red MOVE ON appears when budget ends · does not auto-advance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189720" y="5614416"/>
            <a:ext cx="2468880" cy="292608"/>
          </a:xfrm>
          <a:prstGeom prst="roundRect">
            <a:avLst>
              <a:gd name="adj" fmla="val 20000"/>
            </a:avLst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E6EDF3"/>
                </a:solidFill>
                <a:latin typeface="Calibri"/>
              </a:rPr>
              <a:t>MOVE ON  →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/>
                                  <p:tgtEl>
                                    <p:spTgt spid="3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hidden"/>
                                </p:to>
                              </p:set>
                              <p:animEffect transition="out" filter="wipe(left)">
                                <p:cBhvr>
                                  <p:cTn id="6" dur="75000" fill="hold"/>
                                  <p:tgtEl>
                                    <p:spTgt spid="35"/>
                                  </p:tgtEl>
                                </p:cBhvr>
                              </p:animEffect>
                              <p:animEffect transition="in" filter="fade">
                                <p:cBhvr>
                                  <p:cTn id="7" dur="400" fill="hold">
                                    <p:stCondLst>
                                      <p:cond delay="75000"/>
                                    </p:stCondLst>
                                  </p:cTn>
                                  <p:tgtEl>
                                    <p:spTgt spid="37"/>
                                  </p:tgtEl>
                                </p:cBhvr>
                              </p:animEffect>
                              <p:set>
                                <p:cBhvr>
                                  <p:cTn id="8" dur="1" fill="hold">
                                    <p:stCondLst>
                                      <p:cond delay="75000"/>
                                    </p:stCondLst>
                                  </p:cTn>
                                  <p:tgtEl>
                                    <p:spTgt spid="3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155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58A6FF"/>
                </a:solidFill>
                <a:latin typeface="Calibri"/>
              </a:rPr>
              <a:t>STORYLINE STEP 6 OF 7  ·  CROSS-FUNCTIONAL PLAN AND FEEDBACK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38912"/>
            <a:ext cx="8869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D4A853"/>
                </a:solidFill>
                <a:latin typeface="Calibri"/>
              </a:rPr>
              <a:t>One program — Sales, Marketing, Finance, regions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051560"/>
            <a:ext cx="2377440" cy="38404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051560"/>
            <a:ext cx="73152" cy="384048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097280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58A6FF"/>
                </a:solidFill>
                <a:latin typeface="Calibri"/>
              </a:rPr>
              <a:t>STAGE 6  ·  ALIGN &amp; MEASURE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645920"/>
            <a:ext cx="2743200" cy="219456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645920"/>
            <a:ext cx="73152" cy="219456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" y="1783080"/>
            <a:ext cx="24231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58A6FF"/>
                </a:solidFill>
                <a:latin typeface="Calibri"/>
              </a:rPr>
              <a:t>SALES / DEAL DESK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E6EDF3"/>
                </a:solidFill>
                <a:latin typeface="Calibri"/>
              </a:rPr>
              <a:t>≥80% bids on tier + rate card by Q2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8B9CB3"/>
                </a:solidFill>
                <a:latin typeface="Calibri"/>
              </a:rPr>
              <a:t>Discovery kit · ROI calculator · weekly reviews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83280" y="1645920"/>
            <a:ext cx="2743200" cy="219456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83280" y="1645920"/>
            <a:ext cx="73152" cy="2194560"/>
          </a:xfrm>
          <a:prstGeom prst="rect">
            <a:avLst/>
          </a:prstGeom>
          <a:solidFill>
            <a:srgbClr val="A371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47872" y="1783080"/>
            <a:ext cx="24231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A371F7"/>
                </a:solidFill>
                <a:latin typeface="Calibri"/>
              </a:rPr>
              <a:t>MARKETING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E6EDF3"/>
                </a:solidFill>
                <a:latin typeface="Calibri"/>
              </a:rPr>
              <a:t>One narrative: Application Ops by tier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8B9CB3"/>
                </a:solidFill>
                <a:latin typeface="Calibri"/>
              </a:rPr>
              <a:t>One-pagers · proof stories · retire staffing language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645920"/>
            <a:ext cx="2743200" cy="219456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645920"/>
            <a:ext cx="73152" cy="2194560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28232" y="1783080"/>
            <a:ext cx="24231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D4A853"/>
                </a:solidFill>
                <a:latin typeface="Calibri"/>
              </a:rPr>
              <a:t>FINANCE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E6EDF3"/>
                </a:solidFill>
                <a:latin typeface="Calibri"/>
              </a:rPr>
              <a:t>Revenue recognition · margin floors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8B9CB3"/>
                </a:solidFill>
                <a:latin typeface="Calibri"/>
              </a:rPr>
              <a:t>Platform vs milestone memo · bid sign-off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0" y="1645920"/>
            <a:ext cx="2743200" cy="219456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144000" y="1645920"/>
            <a:ext cx="73152" cy="2194560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08592" y="1783080"/>
            <a:ext cx="24231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3FB950"/>
                </a:solidFill>
                <a:latin typeface="Calibri"/>
              </a:rPr>
              <a:t>REGIONS / DELIVERY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E6EDF3"/>
                </a:solidFill>
                <a:latin typeface="Calibri"/>
              </a:rPr>
              <a:t>Pilots hit service-level catalogue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8B9CB3"/>
                </a:solidFill>
                <a:latin typeface="Calibri"/>
              </a:rPr>
              <a:t>Knowledge-transfer playbook · renewal step-ups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069080"/>
            <a:ext cx="11155680" cy="169164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4206240"/>
            <a:ext cx="1078992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4A853"/>
                </a:solidFill>
                <a:latin typeface="Calibri"/>
              </a:rPr>
              <a:t>12-MONTH SCOREBOARD  ·  Quarterly Pricing Council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Net sales Flat → +8–12%   ·   Gross margin recover 3–4 percentage points (e.g. toward 25–27%)   ·   Tier adoption ≥80%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Price variance &lt;15%   ·   Wins on value/total-cost ≥40%   ·   Renewal step-up ≥25%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8B9CB3"/>
                </a:solidFill>
                <a:latin typeface="Calibri"/>
              </a:rPr>
              <a:t>Feedback: monthly Deal Desk overrides → quarterly Pricing Council (±3% rate card) → annual sunset re-test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1 Diagnose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121408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121408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2 Findings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739896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39896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3 Decide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358384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58384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4 Package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976872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76872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5 Guardrails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595360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595360" y="6199632"/>
            <a:ext cx="1508760" cy="45720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595360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D4A853"/>
                </a:solidFill>
                <a:latin typeface="Calibri"/>
              </a:rPr>
              <a:t>6 Align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213848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213848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7 Ask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649224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Case Study 1 · Reposition underperforming offering · Gaurav Chaudhary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15600" y="6492240"/>
            <a:ext cx="1188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7 / 8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646920" y="164592"/>
            <a:ext cx="2331720" cy="868680"/>
          </a:xfrm>
          <a:prstGeom prst="roundRect">
            <a:avLst>
              <a:gd name="adj" fmla="val 12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646920" y="164592"/>
            <a:ext cx="73152" cy="868680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811512" y="219456"/>
            <a:ext cx="207568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8B9CB3"/>
                </a:solidFill>
                <a:latin typeface="Calibri"/>
              </a:rPr>
              <a:t>SLIDE BUDGET</a:t>
            </a:r>
          </a:p>
          <a:p>
            <a:pPr algn="l">
              <a:spcAft>
                <a:spcPts val="0"/>
              </a:spcAft>
            </a:pPr>
            <a:r>
              <a:rPr sz="2600" b="1">
                <a:solidFill>
                  <a:srgbClr val="D4A853"/>
                </a:solidFill>
                <a:latin typeface="Calibri"/>
              </a:rPr>
              <a:t>1:05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8B9CB3"/>
                </a:solidFill>
                <a:latin typeface="Calibri"/>
              </a:rPr>
              <a:t>by end 8:55 · left 1:05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02920" y="5961888"/>
            <a:ext cx="11155680" cy="109728"/>
          </a:xfrm>
          <a:prstGeom prst="roundRect">
            <a:avLst>
              <a:gd name="adj" fmla="val 50000"/>
            </a:avLst>
          </a:prstGeom>
          <a:solidFill>
            <a:srgbClr val="243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02920" y="5961888"/>
            <a:ext cx="11155680" cy="109728"/>
          </a:xfrm>
          <a:prstGeom prst="roundRect">
            <a:avLst>
              <a:gd name="adj" fmla="val 50000"/>
            </a:avLst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02920" y="5760720"/>
            <a:ext cx="5029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8B9CB3"/>
                </a:solidFill>
                <a:latin typeface="Calibri"/>
              </a:rPr>
              <a:t>Countdown starts in Slideshow · red MOVE ON appears when budget ends · does not auto-advance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189720" y="5614416"/>
            <a:ext cx="2468880" cy="292608"/>
          </a:xfrm>
          <a:prstGeom prst="roundRect">
            <a:avLst>
              <a:gd name="adj" fmla="val 20000"/>
            </a:avLst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E6EDF3"/>
                </a:solidFill>
                <a:latin typeface="Calibri"/>
              </a:rPr>
              <a:t>MOVE ON  →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/>
                                  <p:tgtEl>
                                    <p:spTgt spid="4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hidden"/>
                                </p:to>
                              </p:set>
                              <p:animEffect transition="out" filter="wipe(left)">
                                <p:cBhvr>
                                  <p:cTn id="6" dur="65000" fill="hold"/>
                                  <p:tgtEl>
                                    <p:spTgt spid="43"/>
                                  </p:tgtEl>
                                </p:cBhvr>
                              </p:animEffect>
                              <p:animEffect transition="in" filter="fade">
                                <p:cBhvr>
                                  <p:cTn id="7" dur="400" fill="hold">
                                    <p:stCondLst>
                                      <p:cond delay="65000"/>
                                    </p:stCondLst>
                                  </p:cTn>
                                  <p:tgtEl>
                                    <p:spTgt spid="45"/>
                                  </p:tgtEl>
                                </p:cBhvr>
                              </p:animEffect>
                              <p:set>
                                <p:cBhvr>
                                  <p:cTn id="8" dur="1" fill="hold">
                                    <p:stCondLst>
                                      <p:cond delay="65000"/>
                                    </p:stCondLst>
                                  </p:cTn>
                                  <p:tgtEl>
                                    <p:spTgt spid="4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155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58A6FF"/>
                </a:solidFill>
                <a:latin typeface="Calibri"/>
              </a:rPr>
              <a:t>STORYLINE STEP 7 OF 7  ·  CLOSE AND HAND TO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38912"/>
            <a:ext cx="8869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D4A853"/>
                </a:solidFill>
                <a:latin typeface="Calibri"/>
              </a:rPr>
              <a:t>Reposition. Land with tiers. Expand when value is proven.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051560"/>
            <a:ext cx="2377440" cy="38404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051560"/>
            <a:ext cx="73152" cy="384048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097280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3FB950"/>
                </a:solidFill>
                <a:latin typeface="Calibri"/>
              </a:rPr>
              <a:t>STAGE 7  ·  ASK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645920"/>
            <a:ext cx="11155680" cy="141732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783080"/>
            <a:ext cx="1078992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58A6FF"/>
                </a:solidFill>
                <a:latin typeface="Calibri"/>
              </a:rPr>
              <a:t>THE CALL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E6EDF3"/>
                </a:solidFill>
                <a:latin typeface="Calibri"/>
              </a:rPr>
              <a:t>Reposition Application Managed Services as Outcome-Tiered Application Operations (Stabilize → Optimize → Transform). Do not sunset. Do not evolve tooling without fixing the sellable unit. Fund guardrails in Quarter 1; pilot in two regions; measure with a quarterly Pricing Council.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291840"/>
            <a:ext cx="5486400" cy="233172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429000"/>
            <a:ext cx="512064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>
                <a:solidFill>
                  <a:srgbClr val="D4A853"/>
                </a:solidFill>
                <a:latin typeface="Calibri"/>
              </a:rPr>
              <a:t>THOUGHT PROCESS THEY SHOULD HEAR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E6EDF3"/>
                </a:solidFill>
                <a:latin typeface="Calibri"/>
              </a:rPr>
              <a:t>1 Diagnose with five lenses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E6EDF3"/>
                </a:solidFill>
                <a:latin typeface="Calibri"/>
              </a:rPr>
              <a:t>2 Synthesize commercial root causes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E6EDF3"/>
                </a:solidFill>
                <a:latin typeface="Calibri"/>
              </a:rPr>
              <a:t>3 Decide with trade-offs → Reposition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E6EDF3"/>
                </a:solidFill>
                <a:latin typeface="Calibri"/>
              </a:rPr>
              <a:t>4 Package / guardrail / enable / measure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291840"/>
            <a:ext cx="5440680" cy="233172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3429000"/>
            <a:ext cx="507492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>
                <a:solidFill>
                  <a:srgbClr val="3FB950"/>
                </a:solidFill>
                <a:latin typeface="Calibri"/>
              </a:rPr>
              <a:t>ASK OF LEADERSHIP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▸  Approve reposition + global rate card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▸  Stand up Deal Desk guardrails this quarter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▸  Authorize two regional pilots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▸  Name Product owner + monthly steering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5760720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8B9CB3"/>
                </a:solidFill>
                <a:latin typeface="Calibri"/>
              </a:rPr>
              <a:t>QUESTIONS  ·  5 MINUTES     ·     Deep dive on any stage: HTML case study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1 Diagnose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121408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21408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2 Findings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39896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39896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3 Decide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358384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58384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4 Package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76872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5 Guardrails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595360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0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6 Align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213848" y="6199632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213848" y="6199632"/>
            <a:ext cx="1508760" cy="45720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213848" y="6217920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D4A853"/>
                </a:solidFill>
                <a:latin typeface="Calibri"/>
              </a:rPr>
              <a:t>7 Ask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9224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Case Study 1 · Reposition underperforming offering · Gaurav Chaudhary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6492240"/>
            <a:ext cx="1188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8 / 8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646920" y="164592"/>
            <a:ext cx="2331720" cy="868680"/>
          </a:xfrm>
          <a:prstGeom prst="roundRect">
            <a:avLst>
              <a:gd name="adj" fmla="val 12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646920" y="164592"/>
            <a:ext cx="73152" cy="868680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11512" y="219456"/>
            <a:ext cx="207568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8B9CB3"/>
                </a:solidFill>
                <a:latin typeface="Calibri"/>
              </a:rPr>
              <a:t>SLIDE BUDGET</a:t>
            </a:r>
          </a:p>
          <a:p>
            <a:pPr algn="l">
              <a:spcAft>
                <a:spcPts val="0"/>
              </a:spcAft>
            </a:pPr>
            <a:r>
              <a:rPr sz="2600" b="1">
                <a:solidFill>
                  <a:srgbClr val="D4A853"/>
                </a:solidFill>
                <a:latin typeface="Calibri"/>
              </a:rPr>
              <a:t>1:05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8B9CB3"/>
                </a:solidFill>
                <a:latin typeface="Calibri"/>
              </a:rPr>
              <a:t>by end 10:00 · left 0:00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5961888"/>
            <a:ext cx="11155680" cy="109728"/>
          </a:xfrm>
          <a:prstGeom prst="roundRect">
            <a:avLst>
              <a:gd name="adj" fmla="val 50000"/>
            </a:avLst>
          </a:prstGeom>
          <a:solidFill>
            <a:srgbClr val="243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502920" y="5961888"/>
            <a:ext cx="11155680" cy="109728"/>
          </a:xfrm>
          <a:prstGeom prst="roundRect">
            <a:avLst>
              <a:gd name="adj" fmla="val 50000"/>
            </a:avLst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920" y="5760720"/>
            <a:ext cx="5029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8B9CB3"/>
                </a:solidFill>
                <a:latin typeface="Calibri"/>
              </a:rPr>
              <a:t>Countdown starts in Slideshow · red MOVE ON appears when budget ends · does not auto-advance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189720" y="5614416"/>
            <a:ext cx="2468880" cy="292608"/>
          </a:xfrm>
          <a:prstGeom prst="roundRect">
            <a:avLst>
              <a:gd name="adj" fmla="val 20000"/>
            </a:avLst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E6EDF3"/>
                </a:solidFill>
                <a:latin typeface="Calibri"/>
              </a:rPr>
              <a:t>MOVE ON  →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/>
                                  <p:tgtEl>
                                    <p:spTgt spid="3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hidden"/>
                                </p:to>
                              </p:set>
                              <p:animEffect transition="out" filter="wipe(left)">
                                <p:cBhvr>
                                  <p:cTn id="6" dur="65000" fill="hold"/>
                                  <p:tgtEl>
                                    <p:spTgt spid="36"/>
                                  </p:tgtEl>
                                </p:cBhvr>
                              </p:animEffect>
                              <p:animEffect transition="in" filter="fade">
                                <p:cBhvr>
                                  <p:cTn id="7" dur="400" fill="hold">
                                    <p:stCondLst>
                                      <p:cond delay="65000"/>
                                    </p:stCondLst>
                                  </p:cTn>
                                  <p:tgtEl>
                                    <p:spTgt spid="38"/>
                                  </p:tgtEl>
                                </p:cBhvr>
                              </p:animEffect>
                              <p:set>
                                <p:cBhvr>
                                  <p:cTn id="8" dur="1" fill="hold">
                                    <p:stCondLst>
                                      <p:cond delay="65000"/>
                                    </p:stCondLst>
                                  </p:cTn>
                                  <p:tgtEl>
                                    <p:spTgt spid="3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
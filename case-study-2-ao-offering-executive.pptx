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~1:30</a:t>
            </a:r>
          </a:p>
          <a:p/>
          <a:p>
            <a:r>
              <a:t>WHAT TO SAY:</a:t>
            </a:r>
          </a:p>
          <a:p>
            <a:r>
              <a:t>Paint the customer pain in one breath: multi-vendor chaos, reactive firefighting, inconsistent service-level agreements, margin pressure.</a:t>
            </a:r>
          </a:p>
          <a:p/>
          <a:p>
            <a:r>
              <a:t>North star is end-user experience and trust — total cost of ownership is how we fund it, not the slogan.</a:t>
            </a:r>
          </a:p>
          <a:p/>
          <a:p>
            <a:r>
              <a:t>Given: Ericsson + third-party estate under Managed Services — we productize operations across the mix.</a:t>
            </a:r>
          </a:p>
          <a:p/>
          <a:p>
            <a:r>
              <a:t>State this is lived pattern (Telefónica Argentina, Three UK) productized into a reusable offer.</a:t>
            </a:r>
          </a:p>
          <a:p/>
          <a:p>
            <a:r>
              <a:t>GLOSSARY:</a:t>
            </a:r>
          </a:p>
          <a:p>
            <a:r>
              <a:t>• KPI = key performance indicator (what we measure)</a:t>
            </a:r>
          </a:p>
          <a:p>
            <a:r>
              <a:t>• OKR = objectives and key results (outcome goals tied to KPIs)</a:t>
            </a:r>
          </a:p>
          <a:p>
            <a:r>
              <a:t>• TCO = total cost of ownership (customer run cost including governance)</a:t>
            </a:r>
          </a:p>
          <a:p>
            <a:r>
              <a:t>• SLA = service-level agreement</a:t>
            </a:r>
          </a:p>
          <a:p>
            <a:r>
              <a:t>• CPI = contractual performance indicator (service levels with financial credits)</a:t>
            </a:r>
          </a:p>
          <a:p>
            <a:r>
              <a:t>• 3PP = third-party products</a:t>
            </a:r>
          </a:p>
          <a:p>
            <a:r>
              <a:t>• NPS = Net Promoter 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~2:00</a:t>
            </a:r>
          </a:p>
          <a:p/>
          <a:p>
            <a:r>
              <a:t>WHAT TO SAY:</a:t>
            </a:r>
          </a:p>
          <a:p>
            <a:r>
              <a:t>Consolidation is the operating-model unlock — single accountability, cleaner baseline for observability and autonomy. Customer total-cost and governance reduction are proof, not the north star.</a:t>
            </a:r>
          </a:p>
          <a:p/>
          <a:p>
            <a:r>
              <a:t>Walk Reactive → Observe → Predict → Autonomous with gates (no penalty cliffs).</a:t>
            </a:r>
          </a:p>
          <a:p/>
          <a:p>
            <a:r>
              <a:t>Lifecycle is one productized journey — artificial intelligence, orchestration, and assurance plug into each stage; intent and policy replace tribal manual action over time.</a:t>
            </a:r>
          </a:p>
          <a:p/>
          <a:p>
            <a:r>
              <a:t>GLOSSARY:</a:t>
            </a:r>
          </a:p>
          <a:p>
            <a:r>
              <a:t>• MTTR = mean time to restore</a:t>
            </a:r>
          </a:p>
          <a:p>
            <a:r>
              <a:t>• SPOG = single pane of glass (one executive / Service Delivery Manager view of health)</a:t>
            </a:r>
          </a:p>
          <a:p>
            <a:r>
              <a:t>• HITL = human-in-the-loop (AI proposes; human approves until policy allows full auto)</a:t>
            </a:r>
          </a:p>
          <a:p>
            <a:r>
              <a:t>• Shadow mode = run detection / proposals without acting in production yet</a:t>
            </a:r>
          </a:p>
          <a:p>
            <a:r>
              <a:t>• Known error = documented root cause with workaround pending permanent fix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~2:00</a:t>
            </a:r>
          </a:p>
          <a:p/>
          <a:p>
            <a:r>
              <a:t>WHAT TO SAY:</a:t>
            </a:r>
          </a:p>
          <a:p>
            <a:r>
              <a:t>We do not invent service levels in a slide workshop — we size them from 6–12 months of incidents so maturity and risk are honest.</a:t>
            </a:r>
          </a:p>
          <a:p/>
          <a:p>
            <a:r>
              <a:t>Soft-ramp protects both parties from early penalty cliffs.</a:t>
            </a:r>
          </a:p>
          <a:p/>
          <a:p>
            <a:r>
              <a:t>Reuse library is the productization answer: next customer inherits packs; adapters for Ericsson and third-party; Improve stage feeds the global library.</a:t>
            </a:r>
          </a:p>
          <a:p/>
          <a:p>
            <a:r>
              <a:t>Point at a few contractual performance indicators with credits — shows commercial gravity, not vanity metrics.</a:t>
            </a:r>
          </a:p>
          <a:p/>
          <a:p>
            <a:r>
              <a:t>GLOSSARY:</a:t>
            </a:r>
          </a:p>
          <a:p>
            <a:r>
              <a:t>• Top offender = highest volume × impact defect class</a:t>
            </a:r>
          </a:p>
          <a:p>
            <a:r>
              <a:t>• Soft-ramp = reduced credit exposure in early contract months</a:t>
            </a:r>
          </a:p>
          <a:p>
            <a:r>
              <a:t>• Credit = service credit / financial penalty if contractual performance indicator is missed</a:t>
            </a:r>
          </a:p>
          <a:p>
            <a:r>
              <a:t>• P0/P1 = highest severity incidents</a:t>
            </a:r>
          </a:p>
          <a:p>
            <a:r>
              <a:t>• Adapter = thin integration layer to vendor tools/APIs without full rip-and-replace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~1:30</a:t>
            </a:r>
          </a:p>
          <a:p/>
          <a:p>
            <a:r>
              <a:t>WHAT TO SAY:</a:t>
            </a:r>
          </a:p>
          <a:p>
            <a:r>
              <a:t>Enablement is two audiences: customer operations (adoption) and Ericsson regions (repeatable sell/delivery).</a:t>
            </a:r>
          </a:p>
          <a:p/>
          <a:p>
            <a:r>
              <a:t>Commercial packaging sells autonomy maturity and outcome bands — not a body shop.</a:t>
            </a:r>
          </a:p>
          <a:p/>
          <a:p>
            <a:r>
              <a:t>Pilots with pass-gates are non-negotiable — assumptions must be proven before scale.</a:t>
            </a:r>
          </a:p>
          <a:p/>
          <a:p>
            <a:r>
              <a:t>GLOSSARY:</a:t>
            </a:r>
          </a:p>
          <a:p>
            <a:r>
              <a:t>• Deal Desk = commercial approval / deal architecture function</a:t>
            </a:r>
          </a:p>
          <a:p>
            <a:r>
              <a:t>• Autonomy tier = commercial/packaging band aligned to Reactive / Predictive / Autonomous capability</a:t>
            </a:r>
          </a:p>
          <a:p>
            <a:r>
              <a:t>• Pass-gate = explicit go/no-go criteria before expanding scope or geography</a:t>
            </a:r>
          </a:p>
          <a:p/>
          <a:p>
            <a:r>
              <a:t>PHASED ROLLOUT (UPDATED): M0–M3 train · M3–M6 forward shadow · M6–M9 reverse shadow / HITL / region kit · M12–M15 auto classes expand / Nth-logo / reuse proof. M9–M12 is HITL stabilize before auto expand.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~2:00</a:t>
            </a:r>
          </a:p>
          <a:p/>
          <a:p>
            <a:r>
              <a:t>WHAT TO SAY:</a:t>
            </a:r>
          </a:p>
          <a:p>
            <a:r>
              <a:t>This is where Deal Desk and leadership lean in. Five-year construct. Target headcount X = baseline minus 30%. Customer story commits about 20% run-cost reduction — the gap is structural earnings.</a:t>
            </a:r>
          </a:p>
          <a:p/>
          <a:p>
            <a:r>
              <a:t>Walk the year path: overstaff early for knowledge transfer and soft-ramp; harvest later via autonomy and reuse.</a:t>
            </a:r>
          </a:p>
          <a:p/>
          <a:p>
            <a:r>
              <a:t>Five levers: labour gap, site-mix, tools seed, license recovery, penalty parking lot with earn-back if service levels hold.</a:t>
            </a:r>
          </a:p>
          <a:p/>
          <a:p>
            <a:r>
              <a:t>Plan at 10–15% earnings before interest and tax with explicit envelope; upside toward ~20% is earned, not assumed in the bid.</a:t>
            </a:r>
          </a:p>
          <a:p/>
          <a:p>
            <a:r>
              <a:t>GLOSSARY:</a:t>
            </a:r>
          </a:p>
          <a:p>
            <a:r>
              <a:t>• FTE = full-time equivalent (headcount unit)</a:t>
            </a:r>
          </a:p>
          <a:p>
            <a:r>
              <a:t>• B = baseline multi-vendor headcount</a:t>
            </a:r>
          </a:p>
          <a:p>
            <a:r>
              <a:t>• X = Ericsson stand-up target headcount (B − 30%)</a:t>
            </a:r>
          </a:p>
          <a:p>
            <a:r>
              <a:t>• EBIT = earnings before interest and tax</a:t>
            </a:r>
          </a:p>
          <a:p>
            <a:r>
              <a:t>• Site-mix = onsite leadership / module leads versus offshore or near-shore delivery factory</a:t>
            </a:r>
          </a:p>
          <a:p>
            <a:r>
              <a:t>• Penalty lot = reserved margin for potential service credits; converts to earnings if gates are met</a:t>
            </a:r>
          </a:p>
          <a:p>
            <a:r>
              <a:t>• Earn-back = contractual path to recover credits when performance recovers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~1:00 then questions</a:t>
            </a:r>
          </a:p>
          <a:p/>
          <a:p>
            <a:r>
              <a:t>WHAT TO SAY:</a:t>
            </a:r>
          </a:p>
          <a:p>
            <a:r>
              <a:t>Two proof anchors — renewal when trust was broken; consolidation when economics and autonomy had to be real.</a:t>
            </a:r>
          </a:p>
          <a:p/>
          <a:p>
            <a:r>
              <a:t>Close with the recommendation sentence. Invite questions on contractual performance indicators, five-year economics, or enablement design.</a:t>
            </a:r>
          </a:p>
          <a:p/>
          <a:p>
            <a:r>
              <a:t>LIKELY QUESTIONS:</a:t>
            </a:r>
          </a:p>
          <a:p>
            <a:r>
              <a:t>• Why consolidation first? Operating-model unlock for single accountability and observability — not the north star.</a:t>
            </a:r>
          </a:p>
          <a:p>
            <a:r>
              <a:t>• How avoid penalty shock? Soft-ramp + data-sized service levels + penalty lot in profit-and-loss.</a:t>
            </a:r>
          </a:p>
          <a:p>
            <a:r>
              <a:t>• How reusable across customers? Metrics/runbook/self-heal library + thin adapters for Ericsson and third-party.</a:t>
            </a:r>
          </a:p>
          <a:p>
            <a:r>
              <a:t>• What if pilots fail a gate? Do not scale; envelope absorbs; fix before regional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STRATEGIC PRODUCT MANAGER  ·  CASE STUDY 2  ·  10-MINUTE BRIEF  ·  LIVED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Reusable Autonomous Operations on customer KPIs / OKRs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9CB3"/>
                </a:solidFill>
                <a:latin typeface="Calibri"/>
              </a:rPr>
              <a:t>Large telecom operator · multi-vendor · multi-domain · margin and reliability pressure. Today: reactive operations, high incidents, manual troubleshooting, inconsistent service-level agreements. Propose a reusable managed-services offering: reactive → predictive → autonomous, anchored on customer-agreed key performance indicators.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NORTH STAR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End-user experience and Net Promoter Score · service-level / contractual performance-indicator attainment · market trust. Customer total cost of ownership and a reusable commercial offering are how we fund and scale that outcome — not the outcome itself.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3611880" cy="15544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61188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GIVEN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Ericsson products + third-party portfolio under one Managed Services umbrella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474720"/>
            <a:ext cx="3611880" cy="15544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61188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METHOD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Design → Deploy → Operate → Assure → Improve  ·  pilots before scale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3474720"/>
            <a:ext cx="3611880" cy="15544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61188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PROOF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Telefónica Argentina renewal · Three UK consolidation &amp; autonomy economics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035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AGENDA  ·  10 MINUTES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1  Economic unlock   →   2  Autonomy path &amp; lifecycle   →   3  Measure &amp; reuse   →   4  Enable &amp; commercialize   →   5  Profit-and-loss &amp;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STEP 1–2  ·  ECONOMIC UNLOCK AND AUTONOMY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Vendor consolidation unlocks autonomy — it is not the north star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3337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IT OPERATIONS ANNUAL BUDGET (ASSUMED)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D4A853"/>
                </a:solidFill>
                <a:latin typeface="Calibri"/>
              </a:rPr>
              <a:t>$50m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Multi-vendor run cost 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1887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280160"/>
            <a:ext cx="3337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TARGET AFTER CONSOLIDATION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3FB950"/>
                </a:solidFill>
                <a:latin typeface="Calibri"/>
              </a:rPr>
              <a:t>$40m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~20% total-cost reduction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1887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280160"/>
            <a:ext cx="3337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CUSTOMER GOVERNANCE LOAD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58A6FF"/>
                </a:solidFill>
                <a:latin typeface="Calibri"/>
              </a:rPr>
              <a:t>−20%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Vendor management / service-level overhead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274320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34640"/>
            <a:ext cx="2468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NOW · REACTIVE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Ticket storms · manual triage · multi-vendor blame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697480"/>
            <a:ext cx="274320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2834640"/>
            <a:ext cx="2468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PHASE A · OBSERVE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One health view across infrastructure, cloud, application, network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697480"/>
            <a:ext cx="274320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834640"/>
            <a:ext cx="2468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A371F7"/>
                </a:solidFill>
                <a:latin typeface="Calibri"/>
              </a:rPr>
              <a:t>PHASE B · PREDICT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Anomaly detection · prevent before end-user impact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2697480"/>
            <a:ext cx="274320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60" y="2834640"/>
            <a:ext cx="2468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PHASE C · AUTONOMOUS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Self-heal on known classes · human-in-loop → policy auto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17720"/>
            <a:ext cx="11155680" cy="14630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754880"/>
            <a:ext cx="10789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LIFECYCLE  ·  ONE PRODUCTIZED JOURNEY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Design (intent &amp; policy · KPI contract)  →  Deploy (connectors · single pane of glass · shadow mode)  →  Operate (human-in-loop · self-heal)  →  Assure (digital Service Delivery Manager board · credits)  →  Improve (offender backlog · known-error sunset · library feedback)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STEP 3–4  ·  DATA-DRIVEN KPIS AND REUSE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Size from incidents. Contract soft-ramp. Productize reuse.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5669280" cy="31089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303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DISCOVERY → CONTRACT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Ingest 6–12 months of incident history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Subject-matter expert + AI enrichment → maturity per component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Top-offender backlog (volume × business impact)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Contractual performance indicators: availability, response/restore, problem aging, change success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Soft-ramp windows — avoid penalty cliffs in early months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Same scoreboard for roadmap priority and milestone profit-and-loss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188720"/>
            <a:ext cx="5257800" cy="31089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325880"/>
            <a:ext cx="48920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REUSE LIBRARY (WHY IT SCALES)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Metrics / runbook / self-heal packs per domain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Drag-drop into the next account — not rebuild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Ericsson + third-party adapters under one operating model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Trade-off: thin adapters beat rip-and-replace dogma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Library feedback from Improve stage compounds globally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Portfolio research and development absorbs long-term platform cost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55680" cy="15544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66344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ILLUSTRATIVE CONTRACTUAL PERFORMANCE INDICATORS (FROM LIVE MANAGED-SERVICES PRACTICE)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Availability by service class (credits up to ~20%)  ·  Priority-0/1 restore ≤4 hours (credit ~10%)  ·  Change success ≥98%  ·  Proactive problems ≥20%  ·  Repeat Priority-0–2 ≤10%  ·  Credit % = financial exposure if breached — protects customer return and our margin narrative.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STEP 5–6  ·  ENABLEMENT AND COMMERCIAL CONSTRUCT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Enable customer ops and regions. Sell autonomy maturity.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3611880" cy="32918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3246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CUSTOMER OPERATIONS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Train on single pane of glass and performance board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Shadow → co-pilot → autonomy coverage expand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Resist shadow tooling and tribal workarounds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Success: service-level attainment + adoption metrics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188720"/>
            <a:ext cx="3611880" cy="32918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325880"/>
            <a:ext cx="3246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A371F7"/>
                </a:solidFill>
                <a:latin typeface="Calibri"/>
              </a:rPr>
              <a:t>ERICSSON REGIONS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Playbooks from the reuse library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Deal Desk guardrails by autonomy tier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Demo: single pane + self-heal + performance board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Executive quality gates at month 3 / 12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188720"/>
            <a:ext cx="3611880" cy="32918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325880"/>
            <a:ext cx="3246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COMMERCIAL PACKAGING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Outcome bands mapped to autonomy phases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Not effort-hours as the customer-facing product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Pilot assumptions before multi-region scale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One-pager: total-cost story + roadmap milestones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84632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ASSUMPTIONS → PILOTS BEFORE SCALE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Validate total-cost trajectory, soft-ramp credibility, and library reuse on a bounded estate. Pass-gates required before regional rollout — protects customer trust and our profit-and-loss.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9224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COMMERCIAL DEPTH  ·  FIVE-YEAR MANAGED-SERVICES PROFIT-AND-LOSS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Full-time-equivalent ramp · site-mix · tools · penalty 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Minimum five-year managed-services deal. Baseline multi-vendor headcount = B. Stand-up target X = B − 30%. Customer committed ~20% run-cost reduction; we size at 30% — the 10-point gap is structural earnings before interest and tax, not a sales promise.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214884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1965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Y1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X+20%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Discovery / knowledge-transfer 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2423160"/>
            <a:ext cx="214884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2514600"/>
            <a:ext cx="1965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Y2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X+10%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Human-in-loop packs expanding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4920" y="2423160"/>
            <a:ext cx="214884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2514600"/>
            <a:ext cx="1965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Y3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Steady-state target model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2423160"/>
            <a:ext cx="214884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2514600"/>
            <a:ext cx="1965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Y4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X−10%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Autonomy + reuse harvest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46920" y="2423160"/>
            <a:ext cx="214884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38360" y="2514600"/>
            <a:ext cx="1965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Y5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X−20%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Closed-loop scale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977639"/>
            <a:ext cx="2148840" cy="16002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114800"/>
            <a:ext cx="1965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① Labour gap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+10%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Size −30% vs commit −20%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88920" y="3977639"/>
            <a:ext cx="2148840" cy="16002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4114800"/>
            <a:ext cx="1965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② Site-mix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+10%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Onsite leads · offshore factory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3977639"/>
            <a:ext cx="2148840" cy="16002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6360" y="4114800"/>
            <a:ext cx="1965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③ Tools seed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87171"/>
                </a:solidFill>
                <a:latin typeface="Calibri"/>
              </a:rPr>
              <a:t>−5%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Reusable IP start cost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60920" y="3977639"/>
            <a:ext cx="2148840" cy="16002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4114800"/>
            <a:ext cx="1965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④ License recover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+5%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Customer redirects tooling budget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46920" y="3977639"/>
            <a:ext cx="2148840" cy="16002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38360" y="4114800"/>
            <a:ext cx="1965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⑤ Penalty lot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+5% if met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Parked envelope → earn-back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9224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CREDIBILITY AND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Lived proof. One recommendation.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TELEFÓNICA ARGENTINA — ~$100m RENEWAL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3,000+ backlog · ~500/day → offender taxonomy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Executive key-performance-indicator transparency · 24×7 scale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Accountability restored → renewal won on trust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40680" cy="22860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5074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THREE UK — ~$125m VENDOR CONSOLIDATION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Four vendors · 400+ components · ~75 contractual performance indicators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Single pane of glass + self-heal + generative-AI runbooks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474→336 full-time-equivalent economics · lowest Priority-1s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11556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84048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RECOMMENDATION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Launch a reusable Autonomous Operations managed-services offering (Ericsson + third-party under Managed Services) that sells autonomy maturity + unified observability + outcome key performance indicators as one productized journey — with enablement for customer operations and Ericsson regions, and pilots that validate total cost of ownership, soft-ramp, and library reuse before scaling.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71500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8B9CB3"/>
                </a:solidFill>
                <a:latin typeface="Calibri"/>
              </a:rPr>
              <a:t>QUESTIONS  ·  5 MINUTES     ·     Deep dive: HTML case study (full contractual performance-indicator catalogue, profit-and-loss waterfall)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
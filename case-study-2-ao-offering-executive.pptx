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~1:15</a:t>
            </a:r>
          </a:p>
          <a:p/>
          <a:p>
            <a:r>
              <a:t>Paint pain in one breath. North star = experience &amp; trust; TCO funds it.</a:t>
            </a:r>
          </a:p>
          <a:p>
            <a:r>
              <a:t>Given: Ericsson + third-party under Managed Services.</a:t>
            </a:r>
          </a:p>
          <a:p>
            <a:r>
              <a:t>Tell them: one stage per slide — lived patterns productized into a reusable offer.</a:t>
            </a:r>
          </a:p>
          <a:p/>
          <a:p>
            <a:r>
              <a:t>GLOSSARY: KPI · OKR · TCO · SLA · CPI · NPS · 3PP / third-party products.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~1:15</a:t>
            </a:r>
          </a:p>
          <a:p/>
          <a:p>
            <a:r>
              <a:t>SAY: Consolidation is the operating-model unlock — not the north star.</a:t>
            </a:r>
          </a:p>
          <a:p>
            <a:r>
              <a:t>$50m → $40m and −20% governance are economic proof.</a:t>
            </a:r>
          </a:p>
          <a:p>
            <a:r>
              <a:t>Next = autonomy path once single accountability exists.</a:t>
            </a:r>
          </a:p>
          <a:p/>
          <a:p>
            <a:r>
              <a:t>GLOSSARY: MTTR = mean time to restore · SDM = Service Delivery Manager · TCO = total cost of ownership.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~1:15</a:t>
            </a:r>
          </a:p>
          <a:p/>
          <a:p>
            <a:r>
              <a:t>Walk four maturity boxes left→right. Lifecycle is one product — AI/orchestration plug into each stage.</a:t>
            </a:r>
          </a:p>
          <a:p>
            <a:r>
              <a:t>GLOSSARY: SPOG = single pane of glass · HITL = human-in-the-loop · Shadow mode · Known error.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~1:15</a:t>
            </a:r>
          </a:p>
          <a:p/>
          <a:p>
            <a:r>
              <a:t>Emphasize soft-ramp and credit-weighted CPIs — commercial gravity, not vanity metrics.</a:t>
            </a:r>
          </a:p>
          <a:p>
            <a:r>
              <a:t>GLOSSARY: CPI · Soft-ramp · Top offender · P0/P1 · Credit.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~1:00</a:t>
            </a:r>
          </a:p>
          <a:p/>
          <a:p>
            <a:r>
              <a:t>This is the productization answer. Adapters for Ericsson and third-party. Improve feeds global library.</a:t>
            </a:r>
          </a:p>
          <a:p>
            <a:r>
              <a:t>GLOSSARY: Adapter · Reuse library · IP = intellectual property.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~1:15</a:t>
            </a:r>
          </a:p>
          <a:p/>
          <a:p>
            <a:r>
              <a:t>Hit the shortened map: Reverse shadow M6–M9 · Auto classes M12–M15.</a:t>
            </a:r>
          </a:p>
          <a:p>
            <a:r>
              <a:t>M9–M12 intentional stabilize window.</a:t>
            </a:r>
          </a:p>
          <a:p>
            <a:r>
              <a:t>Two audiences: customer ops + Ericsson regions.</a:t>
            </a:r>
          </a:p>
          <a:p>
            <a:r>
              <a:t>GLOSSARY: Forward/Reverse shadow · HITL · Pass-gate · Nth logo.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~1:30</a:t>
            </a:r>
          </a:p>
          <a:p/>
          <a:p>
            <a:r>
              <a:t>Deal Desk lean-in slide. Plan 10–15% EBIT with envelope; ~20% upside earned if CPIs hold.</a:t>
            </a:r>
          </a:p>
          <a:p>
            <a:r>
              <a:t>GLOSSARY: FTE · B · X · EBIT · Site-mix · Penalty lot · Earn-back.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~1:00 then Q&amp;A</a:t>
            </a:r>
          </a:p>
          <a:p/>
          <a:p>
            <a:r>
              <a:t>Two proof anchors then recommendation sentence. Invite depth on CPIs, five-year economics, or enablement.</a:t>
            </a:r>
          </a:p>
          <a:p/>
          <a:p>
            <a:r>
              <a:t>LIKELY Qs:</a:t>
            </a:r>
          </a:p>
          <a:p>
            <a:r>
              <a:t>• Why consolidation first? Unlock — not north star.</a:t>
            </a:r>
          </a:p>
          <a:p>
            <a:r>
              <a:t>• Penalty shock? Soft-ramp + data-sized CPIs + penalty lot.</a:t>
            </a:r>
          </a:p>
          <a:p>
            <a:r>
              <a:t>• Reusable how? Library + thin adapters.</a:t>
            </a:r>
          </a:p>
          <a:p>
            <a:r>
              <a:t>• Pilot fails a gate? Do not scale.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1556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58A6FF"/>
                </a:solidFill>
                <a:latin typeface="Calibri"/>
              </a:rPr>
              <a:t>STRATEGIC PRODUCT MANAGER  ·  CASE STUDY 2  ·  10-MINUTE BRIEF  ·  LIVED EXPERIENCE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38912"/>
            <a:ext cx="11155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D4A853"/>
                </a:solidFill>
                <a:latin typeface="Calibri"/>
              </a:rPr>
              <a:t>Reusable Autonomous Operations on customer KPIs / OKRs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9728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8B9CB3"/>
                </a:solidFill>
                <a:latin typeface="Calibri"/>
              </a:rPr>
              <a:t>Large telecom operator · multi-vendor · multi-domain · margin and reliability pressure. Today: reactive operations, high incidents, manual troubleshooting, inconsistent service-level agreements. Propose a reusable managed-services offering: reactive → predictive → autonomous.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920240"/>
            <a:ext cx="11155680" cy="109728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057400"/>
            <a:ext cx="107899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58A6FF"/>
                </a:solidFill>
                <a:latin typeface="Calibri"/>
              </a:rPr>
              <a:t>NORTH STAR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End-user experience and Net Promoter Score · service-level / contractual performance-indicator attainment · market trust. Customer total cost of ownership funds and scales that outcome — it is not the outcome itself.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246120"/>
            <a:ext cx="3611880" cy="123444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3383280"/>
            <a:ext cx="3291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4A853"/>
                </a:solidFill>
                <a:latin typeface="Calibri"/>
              </a:rPr>
              <a:t>GIVEN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Ericsson products + third-party portfolio under one Managed Services umbrella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3246120"/>
            <a:ext cx="3611880" cy="123444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62272" y="3383280"/>
            <a:ext cx="3291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58A6FF"/>
                </a:solidFill>
                <a:latin typeface="Calibri"/>
              </a:rPr>
              <a:t>METHOD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Design → Deploy → Operate → Assure → Improve · pilots before scale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92440" y="3246120"/>
            <a:ext cx="3611880" cy="123444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57032" y="3383280"/>
            <a:ext cx="3291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3FB950"/>
                </a:solidFill>
                <a:latin typeface="Calibri"/>
              </a:rPr>
              <a:t>PROOF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Telefónica Argentina renewal · Three UK consolidation &amp; autonomy economics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4709160"/>
            <a:ext cx="11155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1">
                <a:solidFill>
                  <a:srgbClr val="D4A853"/>
                </a:solidFill>
                <a:latin typeface="Calibri"/>
              </a:rPr>
              <a:t>STORYLINE  ·  ONE STAGE PER SLIDE  ·  10 MIN + 5 MIN QUESTIONS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E6EDF3"/>
                </a:solidFill>
                <a:latin typeface="Calibri"/>
              </a:rPr>
              <a:t>1  Economic unlock   →   2  Autonomy path   →   3  Measure from data</a:t>
            </a:r>
          </a:p>
          <a:p>
            <a:pPr algn="l">
              <a:spcAft>
                <a:spcPts val="0"/>
              </a:spcAft>
            </a:pPr>
            <a:r>
              <a:rPr sz="1400" b="1">
                <a:solidFill>
                  <a:srgbClr val="E6EDF3"/>
                </a:solidFill>
                <a:latin typeface="Calibri"/>
              </a:rPr>
              <a:t>4  Reuse library   →   5  Enablement cadence   →   6  Five-year profit-and-loss   →   7  Proof &amp; ask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92240"/>
            <a:ext cx="93268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Case Study 2 · Reusable Autonomous Operations offering · Gaurav Chaudhary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492240"/>
            <a:ext cx="1188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1 / 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1556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58A6FF"/>
                </a:solidFill>
                <a:latin typeface="Calibri"/>
              </a:rPr>
              <a:t>STORYLINE STEP 1 OF 7  ·  ECONOMIC UNLOCK (ENABLER, NOT THE NORTH STAR)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38912"/>
            <a:ext cx="11155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D4A853"/>
                </a:solidFill>
                <a:latin typeface="Calibri"/>
              </a:rPr>
              <a:t>Vendor consolidation unlocks autonomy — it is not the goal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051560"/>
            <a:ext cx="2606040" cy="38404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051560"/>
            <a:ext cx="73152" cy="384048"/>
          </a:xfrm>
          <a:prstGeom prst="rect">
            <a:avLst/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097280"/>
            <a:ext cx="2331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D4A853"/>
                </a:solidFill>
                <a:latin typeface="Calibri"/>
              </a:rPr>
              <a:t>STAGE 1  ·  ECONOMIC UNLOCK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46120" y="109728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8B9CB3"/>
                </a:solidFill>
                <a:latin typeface="Calibri"/>
              </a:rPr>
              <a:t>Single accountability cuts mean time to restore and customer governance tax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691640"/>
            <a:ext cx="3566160" cy="141732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648" y="1801368"/>
            <a:ext cx="3346704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8B9CB3"/>
                </a:solidFill>
                <a:latin typeface="Calibri"/>
              </a:rPr>
              <a:t>IT OPERATIONS BUDGET (ASSUMED)</a:t>
            </a:r>
          </a:p>
          <a:p>
            <a:pPr algn="ctr">
              <a:spcAft>
                <a:spcPts val="200"/>
              </a:spcAft>
            </a:pPr>
            <a:r>
              <a:rPr sz="2200" b="1">
                <a:solidFill>
                  <a:srgbClr val="D4A853"/>
                </a:solidFill>
                <a:latin typeface="Calibri"/>
              </a:rPr>
              <a:t>$50m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8B9CB3"/>
                </a:solidFill>
                <a:latin typeface="Calibri"/>
              </a:rPr>
              <a:t>Multi-vendor run cost today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1691640"/>
            <a:ext cx="3566160" cy="141732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07408" y="1801368"/>
            <a:ext cx="3346704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8B9CB3"/>
                </a:solidFill>
                <a:latin typeface="Calibri"/>
              </a:rPr>
              <a:t>AFTER CONSOLIDATION</a:t>
            </a:r>
          </a:p>
          <a:p>
            <a:pPr algn="ctr">
              <a:spcAft>
                <a:spcPts val="200"/>
              </a:spcAft>
            </a:pPr>
            <a:r>
              <a:rPr sz="2200" b="1">
                <a:solidFill>
                  <a:srgbClr val="3FB950"/>
                </a:solidFill>
                <a:latin typeface="Calibri"/>
              </a:rPr>
              <a:t>$40m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8B9CB3"/>
                </a:solidFill>
                <a:latin typeface="Calibri"/>
              </a:rPr>
              <a:t>~20% total-cost-of-ownership reduction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92440" y="1691640"/>
            <a:ext cx="3566160" cy="141732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02168" y="1801368"/>
            <a:ext cx="3346704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8B9CB3"/>
                </a:solidFill>
                <a:latin typeface="Calibri"/>
              </a:rPr>
              <a:t>CUSTOMER GOVERNANCE LOAD</a:t>
            </a:r>
          </a:p>
          <a:p>
            <a:pPr algn="ctr">
              <a:spcAft>
                <a:spcPts val="200"/>
              </a:spcAft>
            </a:pPr>
            <a:r>
              <a:rPr sz="2200" b="1">
                <a:solidFill>
                  <a:srgbClr val="58A6FF"/>
                </a:solidFill>
                <a:latin typeface="Calibri"/>
              </a:rPr>
              <a:t>−20%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8B9CB3"/>
                </a:solidFill>
                <a:latin typeface="Calibri"/>
              </a:rPr>
              <a:t>Vendor management / service-level overhead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383280"/>
            <a:ext cx="3611880" cy="233172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3383280"/>
            <a:ext cx="3611880" cy="54864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512" y="3566160"/>
            <a:ext cx="32918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F87171"/>
                </a:solidFill>
                <a:latin typeface="Calibri"/>
              </a:rPr>
              <a:t>PAIN TODAY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•  Finger-pointing across Level-1 / Level-2 / Level-3 / deploy / Service Delivery Manager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•  Noisy key performance indicators → more meetings, not resolution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•  Cross-domain correlation slow or impossible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0" y="3383280"/>
            <a:ext cx="3611880" cy="233172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97680" y="3383280"/>
            <a:ext cx="3611880" cy="54864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62272" y="3566160"/>
            <a:ext cx="32918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3FB950"/>
                </a:solidFill>
                <a:latin typeface="Calibri"/>
              </a:rPr>
              <a:t>WHAT CONSOLIDATION UNLOCKS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•  One throat to choke from monitor → restore → problem sunset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•  Clean baseline for observability and autonomy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•  Customer governance shrinks with vendor count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92440" y="3383280"/>
            <a:ext cx="3611880" cy="233172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92440" y="3383280"/>
            <a:ext cx="3611880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57032" y="3566160"/>
            <a:ext cx="32918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38BDF8"/>
                </a:solidFill>
                <a:latin typeface="Calibri"/>
              </a:rPr>
              <a:t>LEADERSHIP CHAIN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•  Level-1 monitor / service desk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•  → Level-2 / Level-3 application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•  → Infrastructure / cloud → change → Service Delivery Manager → problem / sunset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6144768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2920" y="6144768"/>
            <a:ext cx="1508760" cy="45720"/>
          </a:xfrm>
          <a:prstGeom prst="rect">
            <a:avLst/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" y="6163056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D4A853"/>
                </a:solidFill>
                <a:latin typeface="Calibri"/>
              </a:rPr>
              <a:t>1 Unlock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121408" y="6144768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121408" y="6163056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2 Autonomy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739896" y="6144768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739896" y="6163056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3 Measure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358384" y="6144768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358384" y="6163056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4 Reuse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976872" y="6144768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976872" y="6163056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5 Enable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595360" y="6144768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595360" y="6163056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6 P&amp;L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213848" y="6144768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213848" y="6163056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7 Ask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6492240"/>
            <a:ext cx="93268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Case Study 2 · Reusable Autonomous Operations offering · Gaurav Chaudhary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515600" y="6492240"/>
            <a:ext cx="1188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2 /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1556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58A6FF"/>
                </a:solidFill>
                <a:latin typeface="Calibri"/>
              </a:rPr>
              <a:t>STORYLINE STEP 2 OF 7  ·  OUTCOME PATH AND PRODUCTIZED LIFECYCLE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38912"/>
            <a:ext cx="11155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D4A853"/>
                </a:solidFill>
                <a:latin typeface="Calibri"/>
              </a:rPr>
              <a:t>Reactive → predictive → autonomous — with gates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051560"/>
            <a:ext cx="2606040" cy="38404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051560"/>
            <a:ext cx="73152" cy="384048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097280"/>
            <a:ext cx="2331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58A6FF"/>
                </a:solidFill>
                <a:latin typeface="Calibri"/>
              </a:rPr>
              <a:t>STAGE 2  ·  AUTONOMY PATH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46120" y="109728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8B9CB3"/>
                </a:solidFill>
                <a:latin typeface="Calibri"/>
              </a:rPr>
              <a:t>Phased, risk-safe evolution after consolidation — no penalty cliffs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691640"/>
            <a:ext cx="2743200" cy="246888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828800"/>
            <a:ext cx="24688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F87171"/>
                </a:solidFill>
                <a:latin typeface="Calibri"/>
              </a:rPr>
              <a:t>NOW · REACTIVE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Ticket storms · manual triage · multi-vendor blame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8B9CB3"/>
                </a:solidFill>
                <a:latin typeface="Calibri"/>
              </a:rPr>
              <a:t>Gate: consolidate + baseline dump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83280" y="1691640"/>
            <a:ext cx="2743200" cy="246888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0440" y="1828800"/>
            <a:ext cx="24688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58A6FF"/>
                </a:solidFill>
                <a:latin typeface="Calibri"/>
              </a:rPr>
              <a:t>PHASE A · OBSERVE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One health view across infrastructure, cloud, application, network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8B9CB3"/>
                </a:solidFill>
                <a:latin typeface="Calibri"/>
              </a:rPr>
              <a:t>+ Correlation · single pane of glass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691640"/>
            <a:ext cx="2743200" cy="246888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828800"/>
            <a:ext cx="24688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A371F7"/>
                </a:solidFill>
                <a:latin typeface="Calibri"/>
              </a:rPr>
              <a:t>PHASE B · PREDICT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Anomaly detection · prevent before end-user impact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8B9CB3"/>
                </a:solidFill>
                <a:latin typeface="Calibri"/>
              </a:rPr>
              <a:t>+ Artificial intelligence / machine learning · policy thresholds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0" y="1691640"/>
            <a:ext cx="2743200" cy="246888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81160" y="1828800"/>
            <a:ext cx="24688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3FB950"/>
                </a:solidFill>
                <a:latin typeface="Calibri"/>
              </a:rPr>
              <a:t>PHASE C · AUTONOMOUS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Self-heal on known classes · human-in-loop → policy auto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8B9CB3"/>
                </a:solidFill>
                <a:latin typeface="Calibri"/>
              </a:rPr>
              <a:t>+ Closed-loop agents · reuse catalog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389120"/>
            <a:ext cx="11155680" cy="137160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52628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D4A853"/>
                </a:solidFill>
                <a:latin typeface="Calibri"/>
              </a:rPr>
              <a:t>LIFECYCLE  ·  ONE PRODUCTIZED JOURNEY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Design (intent &amp; policy · key-performance-indicator contract)  →  Deploy (connectors · single pane of glass · shadow mode)  →  Operate (human-in-the-loop · self-heal)  →  Assure (digital Service Delivery Manager board · credits)  →  Improve (offender backlog · known-error sunset · library feedback)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6144768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6163056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1 Unlock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121408" y="6144768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121408" y="6144768"/>
            <a:ext cx="1508760" cy="45720"/>
          </a:xfrm>
          <a:prstGeom prst="rect">
            <a:avLst/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121408" y="6163056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D4A853"/>
                </a:solidFill>
                <a:latin typeface="Calibri"/>
              </a:rPr>
              <a:t>2 Autonomy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739896" y="6144768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39896" y="6163056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3 Measure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358384" y="6144768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358384" y="6163056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4 Reuse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976872" y="6144768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76872" y="6163056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5 Enable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595360" y="6144768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95360" y="6163056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6 P&amp;L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213848" y="6144768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213848" y="6163056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7 Ask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6492240"/>
            <a:ext cx="93268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Case Study 2 · Reusable Autonomous Operations offering · Gaurav Chaudhary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0" y="6492240"/>
            <a:ext cx="1188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3 /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1556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58A6FF"/>
                </a:solidFill>
                <a:latin typeface="Calibri"/>
              </a:rPr>
              <a:t>STORYLINE STEP 3 OF 7  ·  DATA-DRIVEN SIZING AND CONTRACTUAL PERFORMANCE INDICATORS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38912"/>
            <a:ext cx="11155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D4A853"/>
                </a:solidFill>
                <a:latin typeface="Calibri"/>
              </a:rPr>
              <a:t>Size from incidents. Contract soft-ramp.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051560"/>
            <a:ext cx="2606040" cy="38404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051560"/>
            <a:ext cx="73152" cy="384048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097280"/>
            <a:ext cx="2331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38BDF8"/>
                </a:solidFill>
                <a:latin typeface="Calibri"/>
              </a:rPr>
              <a:t>STAGE 3  ·  MEASURE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46120" y="109728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8B9CB3"/>
                </a:solidFill>
                <a:latin typeface="Calibri"/>
              </a:rPr>
              <a:t>Do not invent service levels in a workshop — size them from 6–12 months of evidence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691640"/>
            <a:ext cx="5669280" cy="402336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874519"/>
            <a:ext cx="5303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400" b="1">
                <a:solidFill>
                  <a:srgbClr val="D4A853"/>
                </a:solidFill>
                <a:latin typeface="Calibri"/>
              </a:rPr>
              <a:t>DISCOVERY → CONTRACT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E6EDF3"/>
                </a:solidFill>
                <a:latin typeface="Calibri"/>
              </a:rPr>
              <a:t>•  Ingest 6–12 months of incident history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E6EDF3"/>
                </a:solidFill>
                <a:latin typeface="Calibri"/>
              </a:rPr>
              <a:t>•  Subject-matter expert + AI enrichment → maturity per component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E6EDF3"/>
                </a:solidFill>
                <a:latin typeface="Calibri"/>
              </a:rPr>
              <a:t>•  Top-offender backlog (volume × business impact)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E6EDF3"/>
                </a:solidFill>
                <a:latin typeface="Calibri"/>
              </a:rPr>
              <a:t>•  Contractual performance indicators: availability, response/restore, problem aging, change success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E6EDF3"/>
                </a:solidFill>
                <a:latin typeface="Calibri"/>
              </a:rPr>
              <a:t>•  Soft-ramp windows — avoid early penalty cliffs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E6EDF3"/>
                </a:solidFill>
                <a:latin typeface="Calibri"/>
              </a:rPr>
              <a:t>•  Same scoreboard for roadmap priority and milestone profit-and-loss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1691640"/>
            <a:ext cx="5257800" cy="402336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1874519"/>
            <a:ext cx="4892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400" b="1">
                <a:solidFill>
                  <a:srgbClr val="58A6FF"/>
                </a:solidFill>
                <a:latin typeface="Calibri"/>
              </a:rPr>
              <a:t>ILLUSTRATIVE CPI CREDITS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•  Availability by service class — credits up to ~20%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•  Priority-0/1 restore ≤4 hours — credit ~10%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•  Change success ≥98%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•  Proactive problems ≥20%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•  Repeat Priority-0–2 ≤10%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•  Credit % = financial exposure if breached — protects customer return and our margin narrative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6144768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163056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1 Unlock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121408" y="6144768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21408" y="6163056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2 Autonomy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739896" y="6144768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739896" y="6144768"/>
            <a:ext cx="1508760" cy="45720"/>
          </a:xfrm>
          <a:prstGeom prst="rect">
            <a:avLst/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739896" y="6163056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D4A853"/>
                </a:solidFill>
                <a:latin typeface="Calibri"/>
              </a:rPr>
              <a:t>3 Measure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358384" y="6144768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58384" y="6163056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4 Reuse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976872" y="6144768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76872" y="6163056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5 Enable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95360" y="6144768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95360" y="6163056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6 P&amp;L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213848" y="6144768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213848" y="6163056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7 Ask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92240"/>
            <a:ext cx="93268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Case Study 2 · Reusable Autonomous Operations offering · Gaurav Chaudhary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0" y="6492240"/>
            <a:ext cx="1188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4 /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1556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58A6FF"/>
                </a:solidFill>
                <a:latin typeface="Calibri"/>
              </a:rPr>
              <a:t>STORYLINE STEP 4 OF 7  ·  ARCHITECTURE FOR SCALE ACROSS LOGOS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38912"/>
            <a:ext cx="11155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D4A853"/>
                </a:solidFill>
                <a:latin typeface="Calibri"/>
              </a:rPr>
              <a:t>Productize reuse — next customer inherits the library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051560"/>
            <a:ext cx="2606040" cy="38404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051560"/>
            <a:ext cx="73152" cy="384048"/>
          </a:xfrm>
          <a:prstGeom prst="rect">
            <a:avLst/>
          </a:prstGeom>
          <a:solidFill>
            <a:srgbClr val="A371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097280"/>
            <a:ext cx="2331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A371F7"/>
                </a:solidFill>
                <a:latin typeface="Calibri"/>
              </a:rPr>
              <a:t>STAGE 4  ·  REUSE LIBRARY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46120" y="109728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8B9CB3"/>
                </a:solidFill>
                <a:latin typeface="Calibri"/>
              </a:rPr>
              <a:t>Why this is a portfolio offering — not a one-account hero project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691640"/>
            <a:ext cx="3611880" cy="182880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691640"/>
            <a:ext cx="3611880" cy="54864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1874520"/>
            <a:ext cx="329184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58A6FF"/>
                </a:solidFill>
                <a:latin typeface="Calibri"/>
              </a:rPr>
              <a:t>METRICS &amp; RUNBOOK PACKS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Per domain templates · drag-drop into the next account — not rebuild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1691640"/>
            <a:ext cx="3611880" cy="182880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97680" y="1691640"/>
            <a:ext cx="3611880" cy="54864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62272" y="1874520"/>
            <a:ext cx="329184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3FB950"/>
                </a:solidFill>
                <a:latin typeface="Calibri"/>
              </a:rPr>
              <a:t>SELF-HEAL CLASSES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Known failure classes versioned · expand with policy confidence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92440" y="1691640"/>
            <a:ext cx="3611880" cy="182880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92440" y="1691640"/>
            <a:ext cx="3611880" cy="54864"/>
          </a:xfrm>
          <a:prstGeom prst="rect">
            <a:avLst/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57032" y="1874520"/>
            <a:ext cx="329184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4A853"/>
                </a:solidFill>
                <a:latin typeface="Calibri"/>
              </a:rPr>
              <a:t>ERICSSON + THIRD-PARTY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Thin adapters under one Managed Services operating model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703320"/>
            <a:ext cx="3611880" cy="182880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703320"/>
            <a:ext cx="3611880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7512" y="3886200"/>
            <a:ext cx="329184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38BDF8"/>
                </a:solidFill>
                <a:latin typeface="Calibri"/>
              </a:rPr>
              <a:t>TRADE-OFF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Thin adapters beat rip-and-replace dogma — speed and margin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97680" y="3703320"/>
            <a:ext cx="3611880" cy="182880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297680" y="3703320"/>
            <a:ext cx="3611880" cy="54864"/>
          </a:xfrm>
          <a:prstGeom prst="rect">
            <a:avLst/>
          </a:prstGeom>
          <a:solidFill>
            <a:srgbClr val="A371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62272" y="3886200"/>
            <a:ext cx="329184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A371F7"/>
                </a:solidFill>
                <a:latin typeface="Calibri"/>
              </a:rPr>
              <a:t>IMPROVE → GLOBAL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Offender / known-error feedback compounds the library for every region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92440" y="3703320"/>
            <a:ext cx="3611880" cy="182880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092440" y="3703320"/>
            <a:ext cx="3611880" cy="54864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57032" y="3886200"/>
            <a:ext cx="329184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F87171"/>
                </a:solidFill>
                <a:latin typeface="Calibri"/>
              </a:rPr>
              <a:t>FUNDING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Account seeds reusable intellectual property; portfolio research &amp; development absorbs long-term platform cost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6144768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6163056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1 Unlock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121408" y="6144768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121408" y="6163056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2 Autonomy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739896" y="6144768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739896" y="6163056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3 Measure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358384" y="6144768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358384" y="6144768"/>
            <a:ext cx="1508760" cy="45720"/>
          </a:xfrm>
          <a:prstGeom prst="rect">
            <a:avLst/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58384" y="6163056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D4A853"/>
                </a:solidFill>
                <a:latin typeface="Calibri"/>
              </a:rPr>
              <a:t>4 Reuse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976872" y="6144768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976872" y="6163056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5 Enable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595360" y="6144768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595360" y="6163056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6 P&amp;L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0213848" y="6144768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213848" y="6163056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7 Ask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2920" y="6492240"/>
            <a:ext cx="93268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Case Study 2 · Reusable Autonomous Operations offering · Gaurav Chaudhary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515600" y="6492240"/>
            <a:ext cx="1188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5 /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1556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58A6FF"/>
                </a:solidFill>
                <a:latin typeface="Calibri"/>
              </a:rPr>
              <a:t>STORYLINE STEP 5 OF 7  ·  ADOPTION FOR CUSTOMER OPS AND ERICSSON REGIONS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38912"/>
            <a:ext cx="11155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D4A853"/>
                </a:solidFill>
                <a:latin typeface="Calibri"/>
              </a:rPr>
              <a:t>Enablement cadence — shortened, gated, shared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051560"/>
            <a:ext cx="2606040" cy="38404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051560"/>
            <a:ext cx="73152" cy="384048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097280"/>
            <a:ext cx="2331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3FB950"/>
                </a:solidFill>
                <a:latin typeface="Calibri"/>
              </a:rPr>
              <a:t>STAGE 5  ·  ENABLE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46120" y="109728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8B9CB3"/>
                </a:solidFill>
                <a:latin typeface="Calibri"/>
              </a:rPr>
              <a:t>Reuse fails without adoption — train, phase, manage resistance, prove success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691640"/>
            <a:ext cx="2743200" cy="141732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828800"/>
            <a:ext cx="24688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58A6FF"/>
                </a:solidFill>
                <a:latin typeface="Calibri"/>
              </a:rPr>
              <a:t>M0–M3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Train + baseline · library seed · shadow start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83280" y="1691640"/>
            <a:ext cx="2743200" cy="141732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0440" y="1828800"/>
            <a:ext cx="24688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58A6FF"/>
                </a:solidFill>
                <a:latin typeface="Calibri"/>
              </a:rPr>
              <a:t>M3–M6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Forward shadow · soft-ramp CPIs · champions live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691640"/>
            <a:ext cx="2743200" cy="141732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828800"/>
            <a:ext cx="24688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58A6FF"/>
                </a:solidFill>
                <a:latin typeface="Calibri"/>
              </a:rPr>
              <a:t>M6–M9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Reverse shadow · human-in-loop packs · region kit v1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0" y="1691640"/>
            <a:ext cx="2743200" cy="141732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81160" y="1828800"/>
            <a:ext cx="24688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58A6FF"/>
                </a:solidFill>
                <a:latin typeface="Calibri"/>
              </a:rPr>
              <a:t>M12–M15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Auto classes expand · Nth-logo pilot · reuse proof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337560"/>
            <a:ext cx="3611880" cy="237744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" y="3474720"/>
            <a:ext cx="32918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58A6FF"/>
                </a:solidFill>
                <a:latin typeface="Calibri"/>
              </a:rPr>
              <a:t>CUSTOMER OPERATIONS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•  Role-based training (Level-1 / Level-2–3 / Service Delivery Manager / Problem)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•  Shadow → co-pilot → autonomy coverage expand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•  Reframe “jobs cut” as A-team / problem ownership upskill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•  Success: soft-ramp CPIs met · ticket quality ≥95%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97680" y="3337560"/>
            <a:ext cx="3611880" cy="237744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62272" y="3474720"/>
            <a:ext cx="32918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A371F7"/>
                </a:solidFill>
                <a:latin typeface="Calibri"/>
              </a:rPr>
              <a:t>ERICSSON REGIONS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•  Train-the-trainer on maturity framework and Deal Desk tiers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•  Configure-from-library first; custom via exception board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•  Kit: one-pager · demo · playbooks · pricing cards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•  Success: time-to-first-value · % library reuse · margin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92440" y="3337560"/>
            <a:ext cx="3611880" cy="237744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57032" y="3474720"/>
            <a:ext cx="32918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4A853"/>
                </a:solidFill>
                <a:latin typeface="Calibri"/>
              </a:rPr>
              <a:t>PILOTS BEFORE SCALE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•  Validate total-cost trajectory and soft-ramp credibility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•  Pass-gates before regional rollout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•  M9–M12 = human-in-loop stabilize before auto expand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•  Protects customer trust and our profit-and-loss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6144768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6163056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1 Unlock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121408" y="6144768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121408" y="6163056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2 Autonomy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739896" y="6144768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739896" y="6163056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3 Measure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358384" y="6144768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358384" y="6163056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4 Reuse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976872" y="6144768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976872" y="6144768"/>
            <a:ext cx="1508760" cy="45720"/>
          </a:xfrm>
          <a:prstGeom prst="rect">
            <a:avLst/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76872" y="6163056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D4A853"/>
                </a:solidFill>
                <a:latin typeface="Calibri"/>
              </a:rPr>
              <a:t>5 Enable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595360" y="6144768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595360" y="6163056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6 P&amp;L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213848" y="6144768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213848" y="6163056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7 Ask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6492240"/>
            <a:ext cx="93268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Case Study 2 · Reusable Autonomous Operations offering · Gaurav Chaudhary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515600" y="6492240"/>
            <a:ext cx="1188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6 /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1556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58A6FF"/>
                </a:solidFill>
                <a:latin typeface="Calibri"/>
              </a:rPr>
              <a:t>STORYLINE STEP 6 OF 7  ·  FIVE-YEAR MANAGED-SERVICES PROFIT-AND-LOSS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38912"/>
            <a:ext cx="11155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D4A853"/>
                </a:solidFill>
                <a:latin typeface="Calibri"/>
              </a:rPr>
              <a:t>Full-time-equivalent ramp · site-mix · tools · penalty lot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051560"/>
            <a:ext cx="2606040" cy="38404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051560"/>
            <a:ext cx="73152" cy="384048"/>
          </a:xfrm>
          <a:prstGeom prst="rect">
            <a:avLst/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097280"/>
            <a:ext cx="2331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D4A853"/>
                </a:solidFill>
                <a:latin typeface="Calibri"/>
              </a:rPr>
              <a:t>STAGE 6  ·  P&amp;L CONSTRUCT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46120" y="1097280"/>
            <a:ext cx="8412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8B9CB3"/>
                </a:solidFill>
                <a:latin typeface="Calibri"/>
              </a:rPr>
              <a:t>Baseline multi-vendor headcount = B. Target X = B − 30%. Customer commit ~20% run-cost cut; we size at 30% → ~10-point structural earnings gap.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37360"/>
            <a:ext cx="2148840" cy="141732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874519"/>
            <a:ext cx="1965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58A6FF"/>
                </a:solidFill>
                <a:latin typeface="Calibri"/>
              </a:rPr>
              <a:t>Y1</a:t>
            </a:r>
          </a:p>
          <a:p>
            <a:pPr algn="ctr">
              <a:spcAft>
                <a:spcPts val="200"/>
              </a:spcAft>
            </a:pPr>
            <a:r>
              <a:rPr sz="1800" b="1">
                <a:solidFill>
                  <a:srgbClr val="D4A853"/>
                </a:solidFill>
                <a:latin typeface="Calibri"/>
              </a:rPr>
              <a:t>X+20%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8B9CB3"/>
                </a:solidFill>
                <a:latin typeface="Calibri"/>
              </a:rPr>
              <a:t>Knowledge-transfer peak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88920" y="1737360"/>
            <a:ext cx="2148840" cy="141732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80360" y="1874519"/>
            <a:ext cx="1965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58A6FF"/>
                </a:solidFill>
                <a:latin typeface="Calibri"/>
              </a:rPr>
              <a:t>Y2</a:t>
            </a:r>
          </a:p>
          <a:p>
            <a:pPr algn="ctr">
              <a:spcAft>
                <a:spcPts val="200"/>
              </a:spcAft>
            </a:pPr>
            <a:r>
              <a:rPr sz="1800" b="1">
                <a:solidFill>
                  <a:srgbClr val="D4A853"/>
                </a:solidFill>
                <a:latin typeface="Calibri"/>
              </a:rPr>
              <a:t>X+10%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8B9CB3"/>
                </a:solidFill>
                <a:latin typeface="Calibri"/>
              </a:rPr>
              <a:t>Human-in-loop expand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74920" y="1737360"/>
            <a:ext cx="2148840" cy="141732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66360" y="1874519"/>
            <a:ext cx="1965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58A6FF"/>
                </a:solidFill>
                <a:latin typeface="Calibri"/>
              </a:rPr>
              <a:t>Y3</a:t>
            </a:r>
          </a:p>
          <a:p>
            <a:pPr algn="ctr">
              <a:spcAft>
                <a:spcPts val="200"/>
              </a:spcAft>
            </a:pPr>
            <a:r>
              <a:rPr sz="1800" b="1">
                <a:solidFill>
                  <a:srgbClr val="D4A853"/>
                </a:solidFill>
                <a:latin typeface="Calibri"/>
              </a:rPr>
              <a:t>X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8B9CB3"/>
                </a:solidFill>
                <a:latin typeface="Calibri"/>
              </a:rPr>
              <a:t>Steady-state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60920" y="1737360"/>
            <a:ext cx="2148840" cy="141732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52360" y="1874519"/>
            <a:ext cx="1965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58A6FF"/>
                </a:solidFill>
                <a:latin typeface="Calibri"/>
              </a:rPr>
              <a:t>Y4</a:t>
            </a:r>
          </a:p>
          <a:p>
            <a:pPr algn="ctr">
              <a:spcAft>
                <a:spcPts val="200"/>
              </a:spcAft>
            </a:pPr>
            <a:r>
              <a:rPr sz="1800" b="1">
                <a:solidFill>
                  <a:srgbClr val="D4A853"/>
                </a:solidFill>
                <a:latin typeface="Calibri"/>
              </a:rPr>
              <a:t>X−10%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8B9CB3"/>
                </a:solidFill>
                <a:latin typeface="Calibri"/>
              </a:rPr>
              <a:t>Autonomy harvest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646920" y="1737360"/>
            <a:ext cx="2148840" cy="141732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38360" y="1874519"/>
            <a:ext cx="1965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58A6FF"/>
                </a:solidFill>
                <a:latin typeface="Calibri"/>
              </a:rPr>
              <a:t>Y5</a:t>
            </a:r>
          </a:p>
          <a:p>
            <a:pPr algn="ctr">
              <a:spcAft>
                <a:spcPts val="200"/>
              </a:spcAft>
            </a:pPr>
            <a:r>
              <a:rPr sz="1800" b="1">
                <a:solidFill>
                  <a:srgbClr val="D4A853"/>
                </a:solidFill>
                <a:latin typeface="Calibri"/>
              </a:rPr>
              <a:t>X−20%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8B9CB3"/>
                </a:solidFill>
                <a:latin typeface="Calibri"/>
              </a:rPr>
              <a:t>Closed-loop scale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383280"/>
            <a:ext cx="2148840" cy="233172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3566160"/>
            <a:ext cx="19659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>
                <a:solidFill>
                  <a:srgbClr val="D4A853"/>
                </a:solidFill>
                <a:latin typeface="Calibri"/>
              </a:rPr>
              <a:t>① Labour gap</a:t>
            </a:r>
          </a:p>
          <a:p>
            <a:pPr algn="ctr">
              <a:spcAft>
                <a:spcPts val="600"/>
              </a:spcAft>
            </a:pPr>
            <a:r>
              <a:rPr sz="1800" b="1">
                <a:solidFill>
                  <a:srgbClr val="3FB950"/>
                </a:solidFill>
                <a:latin typeface="Calibri"/>
              </a:rPr>
              <a:t>+10%</a:t>
            </a:r>
          </a:p>
          <a:p>
            <a:pPr algn="ctr">
              <a:spcAft>
                <a:spcPts val="0"/>
              </a:spcAft>
            </a:pPr>
            <a:r>
              <a:rPr sz="1200" b="0">
                <a:solidFill>
                  <a:srgbClr val="8B9CB3"/>
                </a:solidFill>
                <a:latin typeface="Calibri"/>
              </a:rPr>
              <a:t>Size −30% vs commit −20%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88920" y="3383280"/>
            <a:ext cx="2148840" cy="233172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880360" y="3566160"/>
            <a:ext cx="19659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>
                <a:solidFill>
                  <a:srgbClr val="D4A853"/>
                </a:solidFill>
                <a:latin typeface="Calibri"/>
              </a:rPr>
              <a:t>② Site-mix</a:t>
            </a:r>
          </a:p>
          <a:p>
            <a:pPr algn="ctr">
              <a:spcAft>
                <a:spcPts val="600"/>
              </a:spcAft>
            </a:pPr>
            <a:r>
              <a:rPr sz="1800" b="1">
                <a:solidFill>
                  <a:srgbClr val="3FB950"/>
                </a:solidFill>
                <a:latin typeface="Calibri"/>
              </a:rPr>
              <a:t>+10%</a:t>
            </a:r>
          </a:p>
          <a:p>
            <a:pPr algn="ctr">
              <a:spcAft>
                <a:spcPts val="0"/>
              </a:spcAft>
            </a:pPr>
            <a:r>
              <a:rPr sz="1200" b="0">
                <a:solidFill>
                  <a:srgbClr val="8B9CB3"/>
                </a:solidFill>
                <a:latin typeface="Calibri"/>
              </a:rPr>
              <a:t>Onsite leads · offshore factory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74920" y="3383280"/>
            <a:ext cx="2148840" cy="233172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66360" y="3566160"/>
            <a:ext cx="19659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>
                <a:solidFill>
                  <a:srgbClr val="D4A853"/>
                </a:solidFill>
                <a:latin typeface="Calibri"/>
              </a:rPr>
              <a:t>③ Tools seed</a:t>
            </a:r>
          </a:p>
          <a:p>
            <a:pPr algn="ctr">
              <a:spcAft>
                <a:spcPts val="600"/>
              </a:spcAft>
            </a:pPr>
            <a:r>
              <a:rPr sz="1800" b="1">
                <a:solidFill>
                  <a:srgbClr val="F87171"/>
                </a:solidFill>
                <a:latin typeface="Calibri"/>
              </a:rPr>
              <a:t>−5%</a:t>
            </a:r>
          </a:p>
          <a:p>
            <a:pPr algn="ctr">
              <a:spcAft>
                <a:spcPts val="0"/>
              </a:spcAft>
            </a:pPr>
            <a:r>
              <a:rPr sz="1200" b="0">
                <a:solidFill>
                  <a:srgbClr val="8B9CB3"/>
                </a:solidFill>
                <a:latin typeface="Calibri"/>
              </a:rPr>
              <a:t>Reusable IP start cost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60920" y="3383280"/>
            <a:ext cx="2148840" cy="233172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52360" y="3566160"/>
            <a:ext cx="19659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>
                <a:solidFill>
                  <a:srgbClr val="D4A853"/>
                </a:solidFill>
                <a:latin typeface="Calibri"/>
              </a:rPr>
              <a:t>④ License recover</a:t>
            </a:r>
          </a:p>
          <a:p>
            <a:pPr algn="ctr">
              <a:spcAft>
                <a:spcPts val="600"/>
              </a:spcAft>
            </a:pPr>
            <a:r>
              <a:rPr sz="1800" b="1">
                <a:solidFill>
                  <a:srgbClr val="3FB950"/>
                </a:solidFill>
                <a:latin typeface="Calibri"/>
              </a:rPr>
              <a:t>+5%</a:t>
            </a:r>
          </a:p>
          <a:p>
            <a:pPr algn="ctr">
              <a:spcAft>
                <a:spcPts val="0"/>
              </a:spcAft>
            </a:pPr>
            <a:r>
              <a:rPr sz="1200" b="0">
                <a:solidFill>
                  <a:srgbClr val="8B9CB3"/>
                </a:solidFill>
                <a:latin typeface="Calibri"/>
              </a:rPr>
              <a:t>Customer redirects tooling budget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646920" y="3383280"/>
            <a:ext cx="2148840" cy="233172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738360" y="3566160"/>
            <a:ext cx="19659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>
                <a:solidFill>
                  <a:srgbClr val="D4A853"/>
                </a:solidFill>
                <a:latin typeface="Calibri"/>
              </a:rPr>
              <a:t>⑤ Penalty lot</a:t>
            </a:r>
          </a:p>
          <a:p>
            <a:pPr algn="ctr">
              <a:spcAft>
                <a:spcPts val="600"/>
              </a:spcAft>
            </a:pPr>
            <a:r>
              <a:rPr sz="1800" b="1">
                <a:solidFill>
                  <a:srgbClr val="3FB950"/>
                </a:solidFill>
                <a:latin typeface="Calibri"/>
              </a:rPr>
              <a:t>+5% if met</a:t>
            </a:r>
          </a:p>
          <a:p>
            <a:pPr algn="ctr">
              <a:spcAft>
                <a:spcPts val="0"/>
              </a:spcAft>
            </a:pPr>
            <a:r>
              <a:rPr sz="1200" b="0">
                <a:solidFill>
                  <a:srgbClr val="8B9CB3"/>
                </a:solidFill>
                <a:latin typeface="Calibri"/>
              </a:rPr>
              <a:t>Parked envelope → earn-back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6144768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2920" y="6163056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1 Unlock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121408" y="6144768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121408" y="6163056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2 Autonomy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739896" y="6144768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739896" y="6163056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3 Measure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358384" y="6144768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358384" y="6163056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4 Reuse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976872" y="6144768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976872" y="6163056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5 Enable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595360" y="6144768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595360" y="6144768"/>
            <a:ext cx="1508760" cy="45720"/>
          </a:xfrm>
          <a:prstGeom prst="rect">
            <a:avLst/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595360" y="6163056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D4A853"/>
                </a:solidFill>
                <a:latin typeface="Calibri"/>
              </a:rPr>
              <a:t>6 P&amp;L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213848" y="6144768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213848" y="6163056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7 Ask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6492240"/>
            <a:ext cx="93268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Case Study 2 · Reusable Autonomous Operations offering · Gaurav Chaudhary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515600" y="6492240"/>
            <a:ext cx="1188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7 /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1556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58A6FF"/>
                </a:solidFill>
                <a:latin typeface="Calibri"/>
              </a:rPr>
              <a:t>STORYLINE STEP 7 OF 7  ·  LIVED PROOF AND RECOMMENDATION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38912"/>
            <a:ext cx="11155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D4A853"/>
                </a:solidFill>
                <a:latin typeface="Calibri"/>
              </a:rPr>
              <a:t>Lived proof. One recommendation.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051560"/>
            <a:ext cx="2606040" cy="38404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051560"/>
            <a:ext cx="73152" cy="384048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097280"/>
            <a:ext cx="2331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3FB950"/>
                </a:solidFill>
                <a:latin typeface="Calibri"/>
              </a:rPr>
              <a:t>STAGE 7  ·  PROOF &amp; ASK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645920"/>
            <a:ext cx="5486400" cy="214884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783080"/>
            <a:ext cx="512064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4A853"/>
                </a:solidFill>
                <a:latin typeface="Calibri"/>
              </a:rPr>
              <a:t>TELEFÓNICA ARGENTINA — ~$100m RENEWAL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3,000+ backlog · ~500/day → offender taxonomy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Executive key-performance-indicator transparency · 24×7 scale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Accountability restored → renewal won on trust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645920"/>
            <a:ext cx="5440680" cy="214884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783080"/>
            <a:ext cx="507492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58A6FF"/>
                </a:solidFill>
                <a:latin typeface="Calibri"/>
              </a:rPr>
              <a:t>THREE UK — ~$125m VENDOR CONSOLIDATION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Four vendors · 400+ components · ~75 contractual performance indicators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Single pane of glass + self-heal + generative-AI runbooks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474→336 full-time-equivalent economics · lowest Priority-1s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023360"/>
            <a:ext cx="11155680" cy="169164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4160520"/>
            <a:ext cx="1078992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3FB950"/>
                </a:solidFill>
                <a:latin typeface="Calibri"/>
              </a:rPr>
              <a:t>RECOMMENDATION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Launch a reusable Autonomous Operations managed-services offering (Ericsson + third-party under Managed Services) that sells autonomy maturity + unified observability + outcome key performance indicators as one productized journey — with enablement for customer operations and Ericsson regions, and pilots that validate total cost of ownership, soft-ramp, and library reuse before scaling. Enablement: Reverse shadow M6–M9 · Auto classes M12–M15.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5806440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8B9CB3"/>
                </a:solidFill>
                <a:latin typeface="Calibri"/>
              </a:rPr>
              <a:t>QUESTIONS  ·  5 MINUTES     ·     Deep dive on any stage: HTML case study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6144768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6163056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1 Unlock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121408" y="6144768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121408" y="6163056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2 Autonomy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39896" y="6144768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39896" y="6163056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3 Measure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358384" y="6144768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58384" y="6163056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4 Reuse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76872" y="6144768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76872" y="6163056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5 Enable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595360" y="6144768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95360" y="6163056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6 P&amp;L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213848" y="6144768"/>
            <a:ext cx="1508760" cy="292608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213848" y="6144768"/>
            <a:ext cx="1508760" cy="45720"/>
          </a:xfrm>
          <a:prstGeom prst="rect">
            <a:avLst/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213848" y="6163056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D4A853"/>
                </a:solidFill>
                <a:latin typeface="Calibri"/>
              </a:rPr>
              <a:t>7 Ask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492240"/>
            <a:ext cx="93268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Case Study 2 · Reusable Autonomous Operations offering · Gaurav Chaudhary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0" y="6492240"/>
            <a:ext cx="1188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8 /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
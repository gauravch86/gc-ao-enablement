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Paint pain in one breath. North star = experience &amp; trust; TCO funds it.</a:t>
            </a:r>
          </a:p>
          <a:p>
            <a:r>
              <a:t>Given: Ericsson + third-party under Managed Services.</a:t>
            </a:r>
          </a:p>
          <a:p>
            <a:r>
              <a:t>Tell them: one stage per slide — lived patterns productized into a reusable offer.</a:t>
            </a:r>
          </a:p>
          <a:p/>
          <a:p>
            <a:r>
              <a:t>GLOSSARY: KPI · OKR · TCO · SLA · CPI · NPS · 3PP / third-party products.</a:t>
            </a:r>
          </a:p>
          <a:p/>
          <a:p>
            <a:r>
              <a:t>ON-SLIDE TIMER: Budget 1:15 for this slide. Gold bar counts down when Slideshow opens (does not auto-advance). By end of this slide you should be at ~1:15 of 10:00 (~8:45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Consolidation is the operating-model unlock — not the north star.</a:t>
            </a:r>
          </a:p>
          <a:p>
            <a:r>
              <a:t>$50m → $40m and −20% governance are economic proof.</a:t>
            </a:r>
          </a:p>
          <a:p>
            <a:r>
              <a:t>Next = autonomy path once single accountability exists.</a:t>
            </a:r>
          </a:p>
          <a:p/>
          <a:p>
            <a:r>
              <a:t>GLOSSARY: MTTR = mean time to restore · SDM = Service Delivery Manager · TCO = total cost of ownership.</a:t>
            </a:r>
          </a:p>
          <a:p/>
          <a:p>
            <a:r>
              <a:t>ON-SLIDE TIMER: Budget 1:15 for this slide. Gold bar counts down when Slideshow opens (does not auto-advance). By end of this slide you should be at ~2:30 of 10:00 (~7:30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Walk four maturity boxes left→right. Lifecycle is one product — AI/orchestration plug into each stage.</a:t>
            </a:r>
          </a:p>
          <a:p>
            <a:r>
              <a:t>GLOSSARY: SPOG = single pane of glass · HITL = human-in-the-loop · Shadow mode · Known error.</a:t>
            </a:r>
          </a:p>
          <a:p/>
          <a:p>
            <a:r>
              <a:t>ON-SLIDE TIMER: Budget 1:15 for this slide. Gold bar counts down when Slideshow opens (does not auto-advance). By end of this slide you should be at ~3:45 of 10:00 (~6:15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Emphasize soft-ramp and credit-weighted CPIs — commercial gravity, not vanity metrics.</a:t>
            </a:r>
          </a:p>
          <a:p>
            <a:r>
              <a:t>GLOSSARY: CPI · Soft-ramp · Top offender · P0/P1 · Credit.</a:t>
            </a:r>
          </a:p>
          <a:p/>
          <a:p>
            <a:r>
              <a:t>ON-SLIDE TIMER: Budget 1:15 for this slide. Gold bar counts down when Slideshow opens (does not auto-advance). By end of this slide you should be at ~5:00 of 10:00 (~5:00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</a:t>
            </a:r>
          </a:p>
          <a:p/>
          <a:p>
            <a:r>
              <a:t>This is the productization answer. Adapters for Ericsson and third-party. Improve feeds global library.</a:t>
            </a:r>
          </a:p>
          <a:p>
            <a:r>
              <a:t>GLOSSARY: Adapter · Reuse library · IP = intellectual property.</a:t>
            </a:r>
          </a:p>
          <a:p/>
          <a:p>
            <a:r>
              <a:t>ON-SLIDE TIMER: Budget 1:00 for this slide. Gold bar counts down when Slideshow opens (does not auto-advance). By end of this slide you should be at ~6:00 of 10:00 (~4:00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Hit the shortened map: Reverse shadow M6–M9 · Auto classes M12–M15.</a:t>
            </a:r>
          </a:p>
          <a:p>
            <a:r>
              <a:t>M9–M12 intentional stabilize window.</a:t>
            </a:r>
          </a:p>
          <a:p>
            <a:r>
              <a:t>Two audiences: customer ops + Ericsson regions.</a:t>
            </a:r>
          </a:p>
          <a:p>
            <a:r>
              <a:t>GLOSSARY: Forward/Reverse shadow · HITL · Pass-gate · Nth logo.</a:t>
            </a:r>
          </a:p>
          <a:p/>
          <a:p>
            <a:r>
              <a:t>ON-SLIDE TIMER: Budget 1:15 for this slide. Gold bar counts down when Slideshow opens (does not auto-advance). By end of this slide you should be at ~7:15 of 10:00 (~2:45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Deal Desk lean-in slide. Plan 10–15% EBIT with envelope; ~20% upside earned if CPIs hold.</a:t>
            </a:r>
          </a:p>
          <a:p>
            <a:r>
              <a:t>GLOSSARY: FTE · B · X · EBIT · Site-mix · Penalty lot · Earn-back.</a:t>
            </a:r>
          </a:p>
          <a:p/>
          <a:p>
            <a:r>
              <a:t>ON-SLIDE TIMER: Budget 1:30 for this slide. Gold bar counts down when Slideshow opens (does not auto-advance). By end of this slide you should be at ~8:45 of 10:00 (~1:15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Q&amp;A</a:t>
            </a:r>
          </a:p>
          <a:p/>
          <a:p>
            <a:r>
              <a:t>Two proof anchors then recommendation sentence. Invite depth on CPIs, five-year economics, or enablement.</a:t>
            </a:r>
          </a:p>
          <a:p/>
          <a:p>
            <a:r>
              <a:t>LIKELY Qs:</a:t>
            </a:r>
          </a:p>
          <a:p>
            <a:r>
              <a:t>• Why consolidation first? Unlock — not north star.</a:t>
            </a:r>
          </a:p>
          <a:p>
            <a:r>
              <a:t>• Penalty shock? Soft-ramp + data-sized CPIs + penalty lot.</a:t>
            </a:r>
          </a:p>
          <a:p>
            <a:r>
              <a:t>• Reusable how? Library + thin adapters.</a:t>
            </a:r>
          </a:p>
          <a:p>
            <a:r>
              <a:t>• Pilot fails a gate? Do not scale.</a:t>
            </a:r>
          </a:p>
          <a:p/>
          <a:p>
            <a:r>
              <a:t>ON-SLIDE TIMER: Budget 1:15 for this slide. Gold bar counts down when Slideshow opens (does not auto-advance). By end of this slide you should be at ~10:00 of 10:00 (~0:00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STRATEGIC PRODUCT MANAGER  ·  CASE STUDY 2  ·  10-MINUTE BRIEF  ·  LIVED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Reusable Autonomous Operations on customer KPIs / OKRs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Large telecom operator · multi-vendor · multi-domain · margin and reliability pressure. Today: reactive operations, high incidents, manual troubleshooting, inconsistent service-level agreements. Propose a reusable managed-services offering: reactive → predictive → autonomous.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NORTH STAR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End-user experience and Net Promoter Score · service-level / contractual performance-indicator attainment · market trust. Customer total cost of ownership funds and scales that outcome — it is not the outcome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GIVEN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Ericsson products + third-party portfolio under one Managed Services umbrella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METHOD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→ Deploy → Operate → Assure → Improve · pilots before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PROOF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Telefónica Argentina renewal · Three UK consolidation &amp; autonomy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STORYLINE  ·  ONE STAGE PER SLIDE  ·  10 MIN + 5 MIN QUESTIONS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1  Economic unlock   →   2  Autonomy path   →   3  Measure from data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4  Reuse library   →   5  Enablement cadence   →   6  Five-year profit-and-loss   →   7  Proof &amp; ask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Top-right SLIDE BUDGET + gold bar = live countdown in Slideshow (does not auto-advance).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1:15 · left 8:45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1 OF 7  ·  ECONOMIC UNLOCK (ENABLER, NOT THE NORTH STAR)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Vendor consolidation unlocks autonomy — it is not the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1  ·  ECONOMIC UNLOCK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Single accountability cuts mean time to restore and customer governance tax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IT OPERATIONS BUDGET (ASSUMED)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4A853"/>
                </a:solidFill>
                <a:latin typeface="Calibri"/>
              </a:rPr>
              <a:t>$50m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Multi-vendor run cost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AFTER CONSOLIDATION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$40m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~20% total-cost-of-ownership reduction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CUSTOMER GOVERNANCE LOAD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58A6FF"/>
                </a:solidFill>
                <a:latin typeface="Calibri"/>
              </a:rPr>
              <a:t>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Vendor management / service-level overhead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PAIN TODAY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Finger-pointing across Level-1 / Level-2 / Level-3 / deploy / Service Delivery Manager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Noisy key performance indicators → more meetings, not resolution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Cross-domain correlation slow or impossible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3383280"/>
            <a:ext cx="36118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WHAT CONSOLIDATION UNLOCKS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One throat to choke from monitor → restore → problem sunset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Clean baseline for observability and autonomy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Customer governance shrinks with vendor 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3383280"/>
            <a:ext cx="36118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LEADERSHIP CHAIN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Level-1 monitor / service desk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→ Level-2 / Level-3 application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→ Infrastructure / cloud → change → Service Delivery Manager → problem / sunset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1 Unlock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2:30 · left 7:30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2 OF 7  ·  OUTCOME PATH AND PRODUCTIZED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Reactive → predictive → autonomous — with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2  ·  AUTONOMY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Phased, risk-safe evolution after consolidation — no penalty cliffs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NOW · REACTIVE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Ticket storms · manual triage · multi-vendor blame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Gate: consolidate + baseline dump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PHASE A · OBSERVE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One health view across infrastructure, cloud, application, network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Correlation · single pane of glass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PHASE B · PREDICT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Anomaly detection · prevent before end-user impact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Artificial intelligence / machine learning · policy thresholds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PHASE C · AUTONOMOUS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Self-heal on known classes · human-in-loop → policy auto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Closed-loop agents · reuse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262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LIFECYCLE  ·  ONE PRODUCTIZED JOURNEY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(intent &amp; policy · key-performance-indicator contract)  →  Deploy (connectors · single pane of glass · shadow mode)  →  Operate (human-in-the-loop · self-heal)  →  Assure (digital Service Delivery Manager board · credits)  →  Improve (offender backlog · known-error sunset · library feedback)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2140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2 Autonomy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3:45 · left 6:15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3 OF 7  ·  DATA-DRIVEN SIZING AND CONTRACTUAL PERFORMANCE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Size from incidents. Contract soft-ramp.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STAGE 3  ·  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Do not invent service levels in a workshop — size them from 6–12 months of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669280" cy="4023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D4A853"/>
                </a:solidFill>
                <a:latin typeface="Calibri"/>
              </a:rPr>
              <a:t>DISCOVERY → CONTRACT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Ingest 6–12 months of incident history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Subject-matter expert + AI enrichment → maturity per component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Top-offender backlog (volume × business impact)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Contractual performance indicators: availability, response/restore, problem aging, change success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Soft-ramp windows — avoid early penalty cliffs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Same scoreboard for roadmap priority and milestone profit-and-loss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91640"/>
            <a:ext cx="5257800" cy="4023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74519"/>
            <a:ext cx="4892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ILLUSTRATIVE CPI CREDITS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Availability by service class — credits up to ~20%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Priority-0/1 restore ≤4 hours — credit ~10%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Change success ≥98%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Proactive problems ≥20%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Repeat Priority-0–2 ≤10%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Credit % = financial exposure if breached — protects customer return and our margin narrative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39896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3 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5:00 · left 5:00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4 OF 7  ·  ARCHITECTURE FOR SCALE ACROSS LOGOS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Productize reuse — next customer inherits the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STAGE 4  ·  REUSE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Why this is a portfolio offering — not a one-account hero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61188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METRICS &amp; RUNBOOK PACKS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Per domain templates · drag-drop into the next account — not rebuild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91640"/>
            <a:ext cx="36118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SELF-HEAL CLASSES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Known failure classes versioned · expand with policy confidence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91640"/>
            <a:ext cx="3611880" cy="54864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ERICSSON + THIRD-PARTY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Thin adapters under one Managed Services operating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TRADE-OFF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Thin adapters beat rip-and-replace dogma — speed and margin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3703320"/>
            <a:ext cx="3611880" cy="54864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IMPROVE → GLOBAL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Offender / known-error feedback compounds the library for every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37033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FUNDING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 seeds reusable intellectual property; portfolio research &amp; development absorbs long-term platform cost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58384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4 Reuse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1:00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6:00 · left 4:00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60000" fill="hold"/>
                                  <p:tgtEl>
                                    <p:spTgt spid="4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5 OF 7  ·  ADOPTION FOR CUSTOMER OPS AND ERICSSON REGIONS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Enablement cadence — shortened, gated,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5  ·  ENABLE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Reuse fails without adoption — train, phase, manage resistance, prove success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M0–M3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Train + baseline · library seed · shadow 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M3–M6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Forward shadow · soft-ramp CPIs · champions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M6–M9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Reverse shadow · human-in-loop packs · region kit v1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M12–M15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Auto classes expand · Nth-logo pilot · reuse proof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CUSTOMER OPERATIONS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Role-based training (Level-1 / Level-2–3 / Service Delivery Manager / Problem)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Shadow → co-pilot → autonomy coverage expand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Reframe “jobs cut” as A-team / problem ownership upskill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Success: soft-ramp CPIs met · ticket quality ≥95%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ERICSSON REGIONS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Train-the-trainer on maturity framework and Deal Desk tiers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Configure-from-library first; custom via exception board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Kit: one-pager · demo · playbooks · pricing cards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Success: time-to-first-value · % library reuse · margin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PILOTS BEFORE SCALE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Validate total-cost trajectory and soft-ramp credibility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Pass-gates before regional rollout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M9–M12 = human-in-loop stabilize before auto expand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Protects customer trust and our profit-and-loss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76872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5 Enable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7:15 · left 2:45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6 OF 7  ·  FIVE-YEAR MANAGED-SERVICES PROFIT-AND-LOSS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Full-time-equivalent ramp · site-mix · tools · penalty 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6  ·  P&amp;L CONSTRUCT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Baseline multi-vendor headcount = B. Target X = B − 30%. Customer commit ~20% run-cost cut; we size at 30% → ~10-point structural earnings gap.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Y1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Y2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X+10%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Human-in-loop expand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Y3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Steady-state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Y4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X−10%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Autonomy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Y5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Closed-loop scale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① Labour gap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Size −30% vs commit −20%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② Site-mix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Onsite leads · offshore factory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③ Tools seed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87171"/>
                </a:solidFill>
                <a:latin typeface="Calibri"/>
              </a:rPr>
              <a:t>−5%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Reusable IP start cost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④ License recover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+5%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Customer redirects tooling budget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⑤ Penalty lot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+5% if met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Parked envelope → earn-back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9536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6 P&amp;L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/ 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1:30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8:45 · left 1:15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90000" fill="hold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7 OF 7  ·  LIVED PROOF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Lived proof. One recommendation.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7  ·  PROOF &amp; 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1206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TELEFÓNICA ARGENTINA — ~$100m RENEWAL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3,000+ backlog · ~500/day → offender taxonomy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Executive key-performance-indicator transparency · 24×7 scale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Accountability restored → renewal won on trust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440680" cy="2148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0749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THREE UK — ~$125m VENDOR CONSOLIDATION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Four vendors · 400+ components · ~75 contractual performance indicators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Single pane of glass + self-heal + generative-AI runbooks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474→336 full-time-equivalent economics · lowest Priority-1s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2336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Launch a reusable Autonomous Operations managed-services offering (Ericsson + third-party under Managed Services) that sells autonomy maturity + unified observability + outcome key performance indicators as one productized journey — with enablement for customer operations and Ericsson regions, and pilots that validate total cost of ownership, soft-ramp, and library reuse before scaling. Enablement: Reverse shadow M6–M9 · Auto classes M12–M15.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 on any stage: HTML case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1384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7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8 / 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10:00 · left 0:00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bar starts in Slideshow · does not auto-advance — you click when ready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animEffect transition="out" filter="wipe(left)">
                                <p:cBhvr>
                                  <p:cTn id="5" dur="750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